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65"/>
  </p:notesMasterIdLst>
  <p:sldIdLst>
    <p:sldId id="256" r:id="rId3"/>
    <p:sldId id="260" r:id="rId4"/>
    <p:sldId id="329" r:id="rId5"/>
    <p:sldId id="261" r:id="rId6"/>
    <p:sldId id="262" r:id="rId7"/>
    <p:sldId id="263" r:id="rId8"/>
    <p:sldId id="330" r:id="rId9"/>
    <p:sldId id="331" r:id="rId10"/>
    <p:sldId id="264" r:id="rId11"/>
    <p:sldId id="265" r:id="rId12"/>
    <p:sldId id="266" r:id="rId13"/>
    <p:sldId id="332" r:id="rId14"/>
    <p:sldId id="333" r:id="rId15"/>
    <p:sldId id="334" r:id="rId16"/>
    <p:sldId id="335" r:id="rId17"/>
    <p:sldId id="336" r:id="rId18"/>
    <p:sldId id="259" r:id="rId19"/>
    <p:sldId id="337" r:id="rId20"/>
    <p:sldId id="339" r:id="rId21"/>
    <p:sldId id="257" r:id="rId22"/>
    <p:sldId id="258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38" r:id="rId38"/>
    <p:sldId id="354" r:id="rId39"/>
    <p:sldId id="355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63" r:id="rId48"/>
    <p:sldId id="364" r:id="rId49"/>
    <p:sldId id="267" r:id="rId50"/>
    <p:sldId id="268" r:id="rId51"/>
    <p:sldId id="269" r:id="rId52"/>
    <p:sldId id="270" r:id="rId53"/>
    <p:sldId id="271" r:id="rId54"/>
    <p:sldId id="272" r:id="rId55"/>
    <p:sldId id="273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9831" autoAdjust="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78B52-9ACF-47E1-B311-5326F1F888B5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BAD03-A4E3-4296-8A27-F87F5BC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33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1. Event là gì?</a:t>
            </a:r>
          </a:p>
          <a:p>
            <a:r>
              <a:rPr lang="vi-VN" b="1" dirty="0"/>
              <a:t>Event = một sự kiện đã xảy ra trong hệ thống (fact trong quá khứ)</a:t>
            </a:r>
            <a:endParaRPr lang="vi-VN" dirty="0"/>
          </a:p>
          <a:p>
            <a:r>
              <a:rPr lang="en-US" dirty="0"/>
              <a:t>👉 </a:t>
            </a:r>
            <a:r>
              <a:rPr lang="vi-VN" dirty="0"/>
              <a:t>Ví dụ:</a:t>
            </a:r>
          </a:p>
          <a:p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UserCreated</a:t>
            </a:r>
            <a:r>
              <a:rPr lang="vi-VN" dirty="0"/>
              <a:t> </a:t>
            </a:r>
          </a:p>
          <a:p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OrderPlaced</a:t>
            </a:r>
            <a:r>
              <a:rPr lang="vi-VN" dirty="0"/>
              <a:t> </a:t>
            </a:r>
          </a:p>
          <a:p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PaymentCompleted</a:t>
            </a:r>
            <a:r>
              <a:rPr lang="vi-VN" dirty="0"/>
              <a:t> </a:t>
            </a:r>
          </a:p>
          <a:p>
            <a:r>
              <a:rPr lang="en-US" dirty="0"/>
              <a:t>📌 </a:t>
            </a:r>
            <a:r>
              <a:rPr lang="vi-VN" dirty="0"/>
              <a:t>Quan trọng:</a:t>
            </a:r>
          </a:p>
          <a:p>
            <a:r>
              <a:rPr lang="vi-VN" dirty="0"/>
              <a:t>Event </a:t>
            </a:r>
            <a:r>
              <a:rPr lang="vi-VN" b="1" dirty="0"/>
              <a:t>không phải command</a:t>
            </a:r>
            <a:r>
              <a:rPr lang="vi-VN" dirty="0"/>
              <a:t> </a:t>
            </a:r>
          </a:p>
          <a:p>
            <a:r>
              <a:rPr lang="vi-VN" dirty="0"/>
              <a:t>Event là </a:t>
            </a:r>
            <a:r>
              <a:rPr lang="vi-VN" b="1" dirty="0"/>
              <a:t>kết quả của command</a:t>
            </a:r>
            <a:r>
              <a:rPr lang="vi-VN" dirty="0"/>
              <a:t>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2. Flow tổng thể trong hình</a:t>
            </a:r>
          </a:p>
          <a:p>
            <a:r>
              <a:rPr lang="en-US" b="1" dirty="0"/>
              <a:t>🔹 </a:t>
            </a:r>
            <a:r>
              <a:rPr lang="vi-VN" b="1" dirty="0"/>
              <a:t>Bước 1: Command → Write DB</a:t>
            </a:r>
          </a:p>
          <a:p>
            <a:r>
              <a:rPr lang="en-US" dirty="0"/>
              <a:t>👉 </a:t>
            </a:r>
            <a:r>
              <a:rPr lang="vi-VN" dirty="0"/>
              <a:t>User gửi </a:t>
            </a:r>
            <a:r>
              <a:rPr lang="vi-VN" b="1" dirty="0"/>
              <a:t>Command</a:t>
            </a:r>
            <a:endParaRPr lang="vi-VN" dirty="0"/>
          </a:p>
          <a:p>
            <a:r>
              <a:rPr lang="vi-VN" dirty="0"/>
              <a:t>Ví dụ: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CreateOrderCommand</a:t>
            </a:r>
          </a:p>
          <a:p>
            <a:r>
              <a:rPr lang="en-US" dirty="0"/>
              <a:t>👉 </a:t>
            </a:r>
            <a:r>
              <a:rPr lang="vi-VN" dirty="0"/>
              <a:t>Backend xử lý:</a:t>
            </a:r>
          </a:p>
          <a:p>
            <a:r>
              <a:rPr lang="vi-VN" dirty="0"/>
              <a:t>Validate dữ liệu </a:t>
            </a:r>
          </a:p>
          <a:p>
            <a:r>
              <a:rPr lang="vi-VN" dirty="0"/>
              <a:t>Business logic </a:t>
            </a:r>
          </a:p>
          <a:p>
            <a:r>
              <a:rPr lang="vi-VN" dirty="0"/>
              <a:t>Ghi vào </a:t>
            </a:r>
            <a:r>
              <a:rPr lang="vi-VN" b="1" dirty="0"/>
              <a:t>Write DB</a:t>
            </a:r>
            <a:r>
              <a:rPr lang="vi-VN" dirty="0"/>
              <a:t> </a:t>
            </a:r>
          </a:p>
          <a:p>
            <a:r>
              <a:rPr lang="en-US" dirty="0"/>
              <a:t>📌 </a:t>
            </a:r>
            <a:r>
              <a:rPr lang="vi-VN" dirty="0"/>
              <a:t>Write DB:</a:t>
            </a:r>
          </a:p>
          <a:p>
            <a:r>
              <a:rPr lang="vi-VN" dirty="0"/>
              <a:t>Chuẩn hóa dữ liệu </a:t>
            </a:r>
          </a:p>
          <a:p>
            <a:r>
              <a:rPr lang="vi-VN" dirty="0"/>
              <a:t>Đảm bảo consistency </a:t>
            </a:r>
          </a:p>
          <a:p>
            <a:r>
              <a:rPr lang="vi-VN" dirty="0"/>
              <a:t>Dùng cho </a:t>
            </a:r>
            <a:r>
              <a:rPr lang="vi-VN" b="1" dirty="0"/>
              <a:t>write operations</a:t>
            </a:r>
            <a:r>
              <a:rPr lang="vi-VN" dirty="0"/>
              <a:t>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Bước 2: Emit Event</a:t>
            </a:r>
          </a:p>
          <a:p>
            <a:r>
              <a:rPr lang="vi-VN" dirty="0"/>
              <a:t>Sau khi write thành công → hệ thống phát ra Event</a:t>
            </a:r>
          </a:p>
          <a:p>
            <a:r>
              <a:rPr lang="vi-VN" dirty="0"/>
              <a:t>Ví dụ: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"event": "OrderCreated",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"orderId": 123,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"userId": 456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👉 </a:t>
            </a:r>
            <a:r>
              <a:rPr lang="vi-VN" dirty="0"/>
              <a:t>Event được gửi qua:</a:t>
            </a:r>
          </a:p>
          <a:p>
            <a:r>
              <a:rPr lang="vi-VN" dirty="0"/>
              <a:t>Kafka / RabbitMQ / Redis Stream </a:t>
            </a:r>
          </a:p>
          <a:p>
            <a:r>
              <a:rPr lang="en-US" dirty="0"/>
              <a:t>📌 </a:t>
            </a:r>
            <a:r>
              <a:rPr lang="vi-VN" dirty="0"/>
              <a:t>Ý nghĩa:</a:t>
            </a:r>
          </a:p>
          <a:p>
            <a:r>
              <a:rPr lang="vi-VN" dirty="0"/>
              <a:t>Tách write và read </a:t>
            </a:r>
          </a:p>
          <a:p>
            <a:r>
              <a:rPr lang="vi-VN" dirty="0"/>
              <a:t>Cho phép hệ thống khác “nghe”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Bước 3: Update Read DB</a:t>
            </a:r>
          </a:p>
          <a:p>
            <a:r>
              <a:rPr lang="en-US" dirty="0"/>
              <a:t>👉 </a:t>
            </a:r>
            <a:r>
              <a:rPr lang="vi-VN" dirty="0"/>
              <a:t>Một service khác sẽ:</a:t>
            </a:r>
          </a:p>
          <a:p>
            <a:r>
              <a:rPr lang="vi-VN" dirty="0"/>
              <a:t>Subscribe event </a:t>
            </a:r>
          </a:p>
          <a:p>
            <a:r>
              <a:rPr lang="vi-VN" dirty="0"/>
              <a:t>Cập nhật Read DB </a:t>
            </a:r>
          </a:p>
          <a:p>
            <a:r>
              <a:rPr lang="en-US" dirty="0"/>
              <a:t>📌 </a:t>
            </a:r>
            <a:r>
              <a:rPr lang="vi-VN" dirty="0"/>
              <a:t>Read DB:</a:t>
            </a:r>
          </a:p>
          <a:p>
            <a:r>
              <a:rPr lang="vi-VN" dirty="0"/>
              <a:t>Optimize cho query (denormalized) </a:t>
            </a:r>
          </a:p>
          <a:p>
            <a:r>
              <a:rPr lang="vi-VN" dirty="0"/>
              <a:t>Dùng cho UI / API đọc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3. Ví dụ thực tế (Shopee-like)</a:t>
            </a:r>
          </a:p>
          <a:p>
            <a:r>
              <a:rPr lang="vi-VN" b="1" dirty="0"/>
              <a:t>User đặt hàng</a:t>
            </a:r>
          </a:p>
          <a:p>
            <a:r>
              <a:rPr lang="vi-VN" b="1" dirty="0"/>
              <a:t>Step 1: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 /orders</a:t>
            </a:r>
          </a:p>
          <a:p>
            <a:r>
              <a:rPr lang="en-US" dirty="0"/>
              <a:t>👉 </a:t>
            </a:r>
            <a:r>
              <a:rPr lang="vi-VN" dirty="0"/>
              <a:t>Write DB: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 table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Step 2:</a:t>
            </a:r>
          </a:p>
          <a:p>
            <a:r>
              <a:rPr lang="vi-VN" dirty="0"/>
              <a:t>Emit event: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OrderCreated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Step 3:</a:t>
            </a:r>
          </a:p>
          <a:p>
            <a:r>
              <a:rPr lang="vi-VN" dirty="0"/>
              <a:t>Read service nhận event:</a:t>
            </a:r>
          </a:p>
          <a:p>
            <a:r>
              <a:rPr lang="en-US" dirty="0"/>
              <a:t>👉 </a:t>
            </a:r>
            <a:r>
              <a:rPr lang="vi-VN" dirty="0"/>
              <a:t>Update: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order_view table</a:t>
            </a:r>
          </a:p>
          <a:p>
            <a:r>
              <a:rPr lang="en-US" dirty="0"/>
              <a:t>👉 </a:t>
            </a:r>
            <a:r>
              <a:rPr lang="vi-VN" dirty="0"/>
              <a:t>UI đọc từ đây: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 /orders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4. Eventual Consistency là gì?</a:t>
            </a:r>
          </a:p>
          <a:p>
            <a:r>
              <a:rPr lang="en-US" dirty="0"/>
              <a:t>👉 </a:t>
            </a:r>
            <a:r>
              <a:rPr lang="vi-VN" b="1" dirty="0"/>
              <a:t>Không đảm bảo dữ liệu đồng bộ ngay lập tức</a:t>
            </a:r>
            <a:br>
              <a:rPr lang="vi-VN" dirty="0"/>
            </a:br>
            <a:r>
              <a:rPr lang="en-US" dirty="0"/>
              <a:t>👉 </a:t>
            </a:r>
            <a:r>
              <a:rPr lang="vi-VN" dirty="0"/>
              <a:t>Nhưng </a:t>
            </a:r>
            <a:r>
              <a:rPr lang="vi-VN" b="1" dirty="0"/>
              <a:t>cuối cùng sẽ đúng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Ví dụ:</a:t>
            </a:r>
          </a:p>
          <a:p>
            <a:r>
              <a:rPr lang="vi-VN" dirty="0"/>
              <a:t>User đặt hàng </a:t>
            </a:r>
          </a:p>
          <a:p>
            <a:r>
              <a:rPr lang="vi-VN" dirty="0"/>
              <a:t>Write DB đã có dữ liệu </a:t>
            </a:r>
            <a:r>
              <a:rPr lang="en-US" dirty="0"/>
              <a:t>✅ </a:t>
            </a:r>
          </a:p>
          <a:p>
            <a:r>
              <a:rPr lang="vi-VN" dirty="0"/>
              <a:t>Nhưng Read DB chưa update </a:t>
            </a:r>
            <a:r>
              <a:rPr lang="en-US" dirty="0"/>
              <a:t>❌ </a:t>
            </a:r>
          </a:p>
          <a:p>
            <a:r>
              <a:rPr lang="en-US" dirty="0"/>
              <a:t>👉 </a:t>
            </a:r>
            <a:r>
              <a:rPr lang="vi-VN" dirty="0"/>
              <a:t>UI có thể thấy: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"Chưa có đơn hàng"</a:t>
            </a:r>
          </a:p>
          <a:p>
            <a:r>
              <a:rPr lang="vi-VN" dirty="0"/>
              <a:t>⏳ Sau 1–2 giây: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"Đơn hàng đã xuất hiện"</a:t>
            </a:r>
          </a:p>
          <a:p>
            <a:r>
              <a:rPr lang="en-US" dirty="0"/>
              <a:t>👉 </a:t>
            </a:r>
            <a:r>
              <a:rPr lang="vi-VN" dirty="0"/>
              <a:t>Đây chính là </a:t>
            </a:r>
            <a:r>
              <a:rPr lang="vi-VN" b="1" dirty="0"/>
              <a:t>eventual consistency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5. Tại sao Read DB bị delay?</a:t>
            </a:r>
          </a:p>
          <a:p>
            <a:r>
              <a:rPr lang="vi-VN" dirty="0"/>
              <a:t>Có 4 nguyên nhân chính: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🔸 1. </a:t>
            </a:r>
            <a:r>
              <a:rPr lang="vi-VN" b="1" dirty="0"/>
              <a:t>Message queue async</a:t>
            </a:r>
          </a:p>
          <a:p>
            <a:r>
              <a:rPr lang="vi-VN" dirty="0"/>
              <a:t>Event đi qua:</a:t>
            </a:r>
          </a:p>
          <a:p>
            <a:r>
              <a:rPr lang="vi-VN" dirty="0"/>
              <a:t>Kafka </a:t>
            </a:r>
          </a:p>
          <a:p>
            <a:r>
              <a:rPr lang="vi-VN" dirty="0"/>
              <a:t>RabbitMQ </a:t>
            </a:r>
          </a:p>
          <a:p>
            <a:r>
              <a:rPr lang="en-US" dirty="0"/>
              <a:t>👉 </a:t>
            </a:r>
            <a:r>
              <a:rPr lang="vi-VN" dirty="0"/>
              <a:t>Không phải real-time tuyệt đối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🔸 2. </a:t>
            </a:r>
            <a:r>
              <a:rPr lang="vi-VN" b="1" dirty="0"/>
              <a:t>Consumer xử lý chậm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→ Queue → Consumer → DB</a:t>
            </a:r>
          </a:p>
          <a:p>
            <a:r>
              <a:rPr lang="en-US" dirty="0"/>
              <a:t>👉 </a:t>
            </a:r>
            <a:r>
              <a:rPr lang="vi-VN" dirty="0"/>
              <a:t>Nếu:</a:t>
            </a:r>
          </a:p>
          <a:p>
            <a:r>
              <a:rPr lang="vi-VN" dirty="0"/>
              <a:t>CPU yếu </a:t>
            </a:r>
          </a:p>
          <a:p>
            <a:r>
              <a:rPr lang="vi-VN" dirty="0"/>
              <a:t>Nhiều event </a:t>
            </a:r>
          </a:p>
          <a:p>
            <a:r>
              <a:rPr lang="vi-VN" dirty="0"/>
              <a:t>→ delay tăng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🔸 3. </a:t>
            </a:r>
            <a:r>
              <a:rPr lang="vi-VN" b="1" dirty="0"/>
              <a:t>Retry / lỗi tạm thời</a:t>
            </a:r>
          </a:p>
          <a:p>
            <a:r>
              <a:rPr lang="vi-VN" dirty="0"/>
              <a:t>DB read bị lỗi </a:t>
            </a:r>
          </a:p>
          <a:p>
            <a:r>
              <a:rPr lang="vi-VN" dirty="0"/>
              <a:t>Consumer retry </a:t>
            </a:r>
          </a:p>
          <a:p>
            <a:r>
              <a:rPr lang="vi-VN" dirty="0"/>
              <a:t>→ delay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🔸 4. </a:t>
            </a:r>
            <a:r>
              <a:rPr lang="vi-VN" b="1" dirty="0"/>
              <a:t>Scale hệ thống</a:t>
            </a:r>
          </a:p>
          <a:p>
            <a:r>
              <a:rPr lang="en-US" dirty="0"/>
              <a:t>👉 </a:t>
            </a:r>
            <a:r>
              <a:rPr lang="vi-VN" dirty="0"/>
              <a:t>Microservices:</a:t>
            </a:r>
          </a:p>
          <a:p>
            <a:r>
              <a:rPr lang="vi-VN" dirty="0"/>
              <a:t>Network latency </a:t>
            </a:r>
          </a:p>
          <a:p>
            <a:r>
              <a:rPr lang="vi-VN" dirty="0"/>
              <a:t>Distributed system </a:t>
            </a:r>
          </a:p>
          <a:p>
            <a:r>
              <a:rPr lang="vi-VN" dirty="0"/>
              <a:t>→ không thể sync ngay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6. So sánh để hiểu nhanh</a:t>
            </a:r>
          </a:p>
          <a:p>
            <a:r>
              <a:rPr lang="vi-VN" dirty="0"/>
              <a:t>Thành phầnMục đíchCommandYêu cầu thay đổiWrite DBNguồn dữ liệu chínhEventThông báo "đã xảy ra"Read DBDữ liệu để query nhanh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7. Insight quan trọng (rất hay ra đề thi </a:t>
            </a:r>
            <a:r>
              <a:rPr lang="en-US" b="1" dirty="0"/>
              <a:t>😄)</a:t>
            </a:r>
          </a:p>
          <a:p>
            <a:r>
              <a:rPr lang="en-US" dirty="0"/>
              <a:t>👉 </a:t>
            </a:r>
            <a:r>
              <a:rPr lang="vi-VN" dirty="0"/>
              <a:t>CQRS chấp nhận:</a:t>
            </a:r>
          </a:p>
          <a:p>
            <a:r>
              <a:rPr lang="en-US" dirty="0"/>
              <a:t>❌ </a:t>
            </a:r>
            <a:r>
              <a:rPr lang="vi-VN" dirty="0"/>
              <a:t>Không strong consistency </a:t>
            </a:r>
          </a:p>
          <a:p>
            <a:r>
              <a:rPr lang="en-US" dirty="0"/>
              <a:t>✅ </a:t>
            </a:r>
            <a:r>
              <a:rPr lang="vi-VN" dirty="0"/>
              <a:t>Đổi lại scalability + performance </a:t>
            </a:r>
          </a:p>
          <a:p>
            <a:r>
              <a:rPr lang="en-US" dirty="0"/>
              <a:t>👉 </a:t>
            </a:r>
            <a:r>
              <a:rPr lang="vi-VN" dirty="0"/>
              <a:t>Trade-off: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Consistency ↓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 ↑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Scalability ↑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1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Tại sao cần nhiều replica?</a:t>
            </a:r>
          </a:p>
          <a:p>
            <a:r>
              <a:rPr lang="en-US" dirty="0"/>
              <a:t>👉 </a:t>
            </a:r>
            <a:r>
              <a:rPr lang="vi-VN" dirty="0"/>
              <a:t>Vì:</a:t>
            </a:r>
          </a:p>
          <a:p>
            <a:r>
              <a:rPr lang="vi-VN" dirty="0"/>
              <a:t>90–99% traffic là </a:t>
            </a:r>
            <a:r>
              <a:rPr lang="vi-VN" b="1" dirty="0"/>
              <a:t>READ</a:t>
            </a:r>
            <a:r>
              <a:rPr lang="vi-VN" dirty="0"/>
              <a:t> </a:t>
            </a:r>
          </a:p>
          <a:p>
            <a:r>
              <a:rPr lang="vi-VN" dirty="0"/>
              <a:t>Ví dụ: </a:t>
            </a:r>
          </a:p>
          <a:p>
            <a:pPr lvl="1"/>
            <a:r>
              <a:rPr lang="vi-VN" dirty="0"/>
              <a:t>Xem news feed </a:t>
            </a:r>
          </a:p>
          <a:p>
            <a:pPr lvl="1"/>
            <a:r>
              <a:rPr lang="vi-VN" dirty="0"/>
              <a:t>Xem profile </a:t>
            </a:r>
          </a:p>
          <a:p>
            <a:pPr lvl="1"/>
            <a:r>
              <a:rPr lang="vi-VN" dirty="0"/>
              <a:t>Xem comment </a:t>
            </a:r>
          </a:p>
          <a:p>
            <a:r>
              <a:rPr lang="en-US" dirty="0"/>
              <a:t>📌 </a:t>
            </a:r>
            <a:r>
              <a:rPr lang="vi-VN" dirty="0"/>
              <a:t>Nếu chỉ 1 DB: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nghẽn ngay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latency cao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crash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✅ </a:t>
            </a:r>
            <a:r>
              <a:rPr lang="vi-VN" b="1" dirty="0"/>
              <a:t>Lợi ích</a:t>
            </a:r>
          </a:p>
          <a:p>
            <a:r>
              <a:rPr lang="vi-VN" dirty="0"/>
              <a:t>Scale ngang (horizontal scaling) </a:t>
            </a:r>
          </a:p>
          <a:p>
            <a:r>
              <a:rPr lang="vi-VN" dirty="0"/>
              <a:t>Load balancing: 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→ Load Balancer → Read replicas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⚠️ Trade-off</a:t>
            </a:r>
          </a:p>
          <a:p>
            <a:r>
              <a:rPr lang="vi-VN" dirty="0"/>
              <a:t>Dữ liệu có thể </a:t>
            </a:r>
            <a:r>
              <a:rPr lang="vi-VN" b="1" dirty="0"/>
              <a:t>chưa sync kịp</a:t>
            </a:r>
            <a:br>
              <a:rPr lang="vi-VN" dirty="0"/>
            </a:br>
            <a:r>
              <a:rPr lang="en-US" dirty="0"/>
              <a:t>👉 → </a:t>
            </a:r>
            <a:r>
              <a:rPr lang="vi-VN" dirty="0"/>
              <a:t>Eventual Consistency (liên kết với slide trước)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2. Scale Write: “shard” là gì?</a:t>
            </a:r>
          </a:p>
          <a:p>
            <a:r>
              <a:rPr lang="en-US" dirty="0"/>
              <a:t>👉 </a:t>
            </a:r>
            <a:r>
              <a:rPr lang="vi-VN" dirty="0"/>
              <a:t>Sharding = chia dữ liệu thành nhiều DB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Ví dụ:</a:t>
            </a:r>
          </a:p>
          <a:p>
            <a:r>
              <a:rPr lang="vi-VN" dirty="0"/>
              <a:t>Thay vì 1 DB: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Table (1 triệu user)</a:t>
            </a:r>
          </a:p>
          <a:p>
            <a:r>
              <a:rPr lang="en-US" dirty="0"/>
              <a:t>👉 </a:t>
            </a:r>
            <a:r>
              <a:rPr lang="vi-VN" dirty="0"/>
              <a:t>chia thành: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Shard 1: userId 1–100k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Shard 2: userId 100k–200k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Shard 3: ...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🔥 </a:t>
            </a:r>
            <a:r>
              <a:rPr lang="vi-VN" b="1" dirty="0"/>
              <a:t>Khi nào cần shard?</a:t>
            </a:r>
          </a:p>
          <a:p>
            <a:r>
              <a:rPr lang="en-US" dirty="0"/>
              <a:t>👉 </a:t>
            </a:r>
            <a:r>
              <a:rPr lang="vi-VN" dirty="0"/>
              <a:t>Khi:</a:t>
            </a:r>
          </a:p>
          <a:p>
            <a:r>
              <a:rPr lang="vi-VN" dirty="0"/>
              <a:t>Write quá nhiều </a:t>
            </a:r>
          </a:p>
          <a:p>
            <a:r>
              <a:rPr lang="vi-VN" dirty="0"/>
              <a:t>DB không chịu nổi: </a:t>
            </a:r>
          </a:p>
          <a:p>
            <a:pPr lvl="1"/>
            <a:r>
              <a:rPr lang="vi-VN" dirty="0"/>
              <a:t>CPU </a:t>
            </a:r>
          </a:p>
          <a:p>
            <a:pPr lvl="1"/>
            <a:r>
              <a:rPr lang="vi-VN" dirty="0"/>
              <a:t>Disk IO </a:t>
            </a:r>
          </a:p>
          <a:p>
            <a:pPr lvl="1"/>
            <a:r>
              <a:rPr lang="vi-VN" dirty="0"/>
              <a:t>Lock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Cách shard phổ biến</a:t>
            </a:r>
          </a:p>
          <a:p>
            <a:r>
              <a:rPr lang="vi-VN" b="1" dirty="0"/>
              <a:t>1. Theo userId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userId % 4 → shard</a:t>
            </a:r>
          </a:p>
          <a:p>
            <a:r>
              <a:rPr lang="vi-VN" b="1" dirty="0"/>
              <a:t>2. Theo region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VN → shard A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 → shard B</a:t>
            </a:r>
          </a:p>
          <a:p>
            <a:r>
              <a:rPr lang="vi-VN" b="1" dirty="0"/>
              <a:t>3. Theo business domain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 DB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DB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 DB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⚠️ Trade-off của sharding</a:t>
            </a:r>
          </a:p>
          <a:p>
            <a:r>
              <a:rPr lang="vi-VN" dirty="0"/>
              <a:t>Query khó hơn: 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* FROM users</a:t>
            </a:r>
          </a:p>
          <a:p>
            <a:r>
              <a:rPr lang="en-US" dirty="0"/>
              <a:t>👉 </a:t>
            </a:r>
            <a:r>
              <a:rPr lang="vi-VN" dirty="0"/>
              <a:t>phải query nhiều shard </a:t>
            </a:r>
            <a:r>
              <a:rPr lang="en-US" dirty="0"/>
              <a:t>😱</a:t>
            </a:r>
          </a:p>
          <a:p>
            <a:r>
              <a:rPr lang="vi-VN" dirty="0"/>
              <a:t>Transaction cross-shard rất khó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3. Case Facebook (rất quan trọng)</a:t>
            </a:r>
          </a:p>
          <a:p>
            <a:r>
              <a:rPr lang="en-US" b="1" dirty="0"/>
              <a:t>🔥 </a:t>
            </a:r>
            <a:r>
              <a:rPr lang="vi-VN" b="1" dirty="0"/>
              <a:t>Đặc điểm:</a:t>
            </a:r>
          </a:p>
          <a:p>
            <a:r>
              <a:rPr lang="vi-VN" dirty="0"/>
              <a:t>Write ít </a:t>
            </a:r>
          </a:p>
          <a:p>
            <a:r>
              <a:rPr lang="vi-VN" dirty="0"/>
              <a:t>Read cực nhiều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Ví dụ:</a:t>
            </a:r>
          </a:p>
          <a:p>
            <a:r>
              <a:rPr lang="en-US" dirty="0"/>
              <a:t>👉 1 </a:t>
            </a:r>
            <a:r>
              <a:rPr lang="vi-VN" dirty="0"/>
              <a:t>user:</a:t>
            </a:r>
          </a:p>
          <a:p>
            <a:r>
              <a:rPr lang="vi-VN" dirty="0"/>
              <a:t>Post bài: 1 write </a:t>
            </a:r>
          </a:p>
          <a:p>
            <a:r>
              <a:rPr lang="vi-VN" dirty="0"/>
              <a:t>Nhưng: </a:t>
            </a:r>
          </a:p>
          <a:p>
            <a:pPr lvl="1"/>
            <a:r>
              <a:rPr lang="vi-VN" dirty="0"/>
              <a:t>1000 người xem → 1000 read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👉 </a:t>
            </a:r>
            <a:r>
              <a:rPr lang="vi-VN" b="1" dirty="0"/>
              <a:t>Facebook giải bài toán như thế nào?</a:t>
            </a:r>
          </a:p>
          <a:p>
            <a:r>
              <a:rPr lang="en-US" b="1" dirty="0"/>
              <a:t>✅ </a:t>
            </a:r>
            <a:r>
              <a:rPr lang="vi-VN" b="1" dirty="0"/>
              <a:t>Write path:</a:t>
            </a:r>
          </a:p>
          <a:p>
            <a:r>
              <a:rPr lang="vi-VN" dirty="0"/>
              <a:t>Ghi vào write DB (ít áp lực)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✅ </a:t>
            </a:r>
            <a:r>
              <a:rPr lang="vi-VN" b="1" dirty="0"/>
              <a:t>Read path:</a:t>
            </a:r>
          </a:p>
          <a:p>
            <a:r>
              <a:rPr lang="vi-VN" dirty="0"/>
              <a:t>Rất nhiều read replica </a:t>
            </a:r>
          </a:p>
          <a:p>
            <a:r>
              <a:rPr lang="vi-VN" dirty="0"/>
              <a:t>Cache (Redis/Memcached)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Flow thực tế: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post → Write DB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→ Emit Event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→ Fan-out (đẩy vào feed của followers)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đọc → Read DB / Cache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🔥 </a:t>
            </a:r>
            <a:r>
              <a:rPr lang="vi-VN" b="1" dirty="0"/>
              <a:t>Insight cực quan trọng</a:t>
            </a:r>
          </a:p>
          <a:p>
            <a:r>
              <a:rPr lang="en-US" dirty="0"/>
              <a:t>👉 </a:t>
            </a:r>
            <a:r>
              <a:rPr lang="vi-VN" dirty="0"/>
              <a:t>Facebook optimize: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WRITE: đơn giản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READ: cực nhanh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4. Tại sao CQRS phù hợp để scale?</a:t>
            </a:r>
          </a:p>
          <a:p>
            <a:r>
              <a:rPr lang="en-US" dirty="0"/>
              <a:t>👉 </a:t>
            </a:r>
            <a:r>
              <a:rPr lang="vi-VN" dirty="0"/>
              <a:t>Vì tách biệt:</a:t>
            </a:r>
          </a:p>
          <a:p>
            <a:r>
              <a:rPr lang="vi-VN" dirty="0"/>
              <a:t>Thành phầnCó thể scale riêngReadthêm replicaWriteshardEventscale queue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</a:t>
            </a:r>
            <a:r>
              <a:rPr lang="vi-VN" b="1" dirty="0"/>
              <a:t>Nếu không dùng CQRS</a:t>
            </a:r>
          </a:p>
          <a:p>
            <a:r>
              <a:rPr lang="en-US" dirty="0"/>
              <a:t>👉 1 </a:t>
            </a:r>
            <a:r>
              <a:rPr lang="vi-VN" dirty="0"/>
              <a:t>DB làm tất cả: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+ WRITE → nghẽn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5. Tổng kết dễ nhớ (để dạy sinh viên)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 Read → nhân bản DB (replica)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 Write → chia DB (shard)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38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1. Nếu Read DB bị lag thì sao?</a:t>
            </a:r>
          </a:p>
          <a:p>
            <a:r>
              <a:rPr lang="en-US" dirty="0"/>
              <a:t>👉 </a:t>
            </a:r>
            <a:r>
              <a:rPr lang="vi-VN" dirty="0"/>
              <a:t>Đây là </a:t>
            </a:r>
            <a:r>
              <a:rPr lang="vi-VN" b="1" dirty="0"/>
              <a:t>bình thường trong CQRS</a:t>
            </a:r>
            <a:r>
              <a:rPr lang="vi-VN" dirty="0"/>
              <a:t> (do eventual consistency)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🔥 </a:t>
            </a:r>
            <a:r>
              <a:rPr lang="vi-VN" b="1" dirty="0"/>
              <a:t>Tình huống thực tế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tạo đơn hàng → Write DB OK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Nhưng Read DB chưa update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UI chưa thấy dữ liệu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✅ </a:t>
            </a:r>
            <a:r>
              <a:rPr lang="vi-VN" b="1" dirty="0"/>
              <a:t>Cách xử lý chuẩn trong thực tế</a:t>
            </a:r>
          </a:p>
          <a:p>
            <a:r>
              <a:rPr lang="en-US" b="1" dirty="0"/>
              <a:t>🔹 </a:t>
            </a:r>
            <a:r>
              <a:rPr lang="vi-VN" b="1" dirty="0"/>
              <a:t>Cách 1: Chấp nhận delay (default)</a:t>
            </a:r>
          </a:p>
          <a:p>
            <a:r>
              <a:rPr lang="en-US" dirty="0"/>
              <a:t>👉 </a:t>
            </a:r>
            <a:r>
              <a:rPr lang="vi-VN" dirty="0"/>
              <a:t>Dùng cho:</a:t>
            </a:r>
          </a:p>
          <a:p>
            <a:r>
              <a:rPr lang="vi-VN" dirty="0"/>
              <a:t>Social network </a:t>
            </a:r>
          </a:p>
          <a:p>
            <a:r>
              <a:rPr lang="vi-VN" dirty="0"/>
              <a:t>Feed </a:t>
            </a:r>
          </a:p>
          <a:p>
            <a:r>
              <a:rPr lang="vi-VN" dirty="0"/>
              <a:t>Comment 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"Đang xử lý..." / "Loading..."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Cách 2: Read from Write DB (fallback)</a:t>
            </a:r>
          </a:p>
          <a:p>
            <a:r>
              <a:rPr lang="en-US" dirty="0"/>
              <a:t>👉 </a:t>
            </a:r>
            <a:r>
              <a:rPr lang="vi-VN" dirty="0"/>
              <a:t>Khi cần dữ liệu ngay: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 /order → trả luôn data từ Write DB</a:t>
            </a:r>
          </a:p>
          <a:p>
            <a:r>
              <a:rPr lang="en-US" dirty="0"/>
              <a:t>📌 </a:t>
            </a:r>
            <a:r>
              <a:rPr lang="vi-VN" dirty="0"/>
              <a:t>UI hiển thị luôn → không cần chờ Read DB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Cách 3: Read-your-write consistency</a:t>
            </a:r>
          </a:p>
          <a:p>
            <a:r>
              <a:rPr lang="en-US" dirty="0"/>
              <a:t>👉 </a:t>
            </a:r>
            <a:r>
              <a:rPr lang="vi-VN" dirty="0"/>
              <a:t>Sau khi user write:</a:t>
            </a:r>
          </a:p>
          <a:p>
            <a:r>
              <a:rPr lang="vi-VN" dirty="0"/>
              <a:t>Session sẽ đọc từ Write DB (tạm thời)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Cách 4: Push update real-time</a:t>
            </a:r>
          </a:p>
          <a:p>
            <a:r>
              <a:rPr lang="vi-VN" dirty="0"/>
              <a:t>WebSocket / SSE </a:t>
            </a:r>
          </a:p>
          <a:p>
            <a:r>
              <a:rPr lang="vi-VN" dirty="0"/>
              <a:t>Khi Read DB update xong → push UI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Cách 5: Retry / polling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 /orders (retry mỗi 500ms)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⚠️ Insight quan trọng</a:t>
            </a:r>
          </a:p>
          <a:p>
            <a:r>
              <a:rPr lang="en-US" dirty="0"/>
              <a:t>👉 </a:t>
            </a:r>
            <a:r>
              <a:rPr lang="vi-VN" dirty="0"/>
              <a:t>Không cố “fix lag bằng cách sync ngay”</a:t>
            </a:r>
            <a:br>
              <a:rPr lang="vi-VN" dirty="0"/>
            </a:br>
            <a:r>
              <a:rPr lang="vi-VN" dirty="0"/>
              <a:t>→ sẽ phá CQRS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2. Có cần transaction không?</a:t>
            </a:r>
          </a:p>
          <a:p>
            <a:r>
              <a:rPr lang="en-US" dirty="0"/>
              <a:t>👉 </a:t>
            </a:r>
            <a:r>
              <a:rPr lang="vi-VN" dirty="0"/>
              <a:t>Câu trả lời: </a:t>
            </a:r>
            <a:r>
              <a:rPr lang="vi-VN" b="1" dirty="0"/>
              <a:t>CÓ, nhưng chỉ trong Write side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Write side (CÓ transaction)</a:t>
            </a:r>
          </a:p>
          <a:p>
            <a:r>
              <a:rPr lang="vi-VN" dirty="0"/>
              <a:t>Ví dụ: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Order: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insert order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insert order_items</a:t>
            </a:r>
          </a:p>
          <a:p>
            <a:r>
              <a:rPr lang="en-US" dirty="0"/>
              <a:t>👉 </a:t>
            </a:r>
            <a:r>
              <a:rPr lang="vi-VN" dirty="0"/>
              <a:t>cần: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🔹 </a:t>
            </a:r>
            <a:r>
              <a:rPr lang="vi-VN" b="1" dirty="0"/>
              <a:t>Read side (KHÔNG cần transaction phức tạp)</a:t>
            </a:r>
          </a:p>
          <a:p>
            <a:r>
              <a:rPr lang="en-US" dirty="0"/>
              <a:t>👉 </a:t>
            </a:r>
            <a:r>
              <a:rPr lang="vi-VN" dirty="0"/>
              <a:t>Vì:</a:t>
            </a:r>
          </a:p>
          <a:p>
            <a:r>
              <a:rPr lang="vi-VN" dirty="0"/>
              <a:t>Read DB là derived data </a:t>
            </a:r>
          </a:p>
          <a:p>
            <a:r>
              <a:rPr lang="vi-VN" dirty="0"/>
              <a:t>Có thể rebuild lại từ event 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🔥 </a:t>
            </a:r>
            <a:r>
              <a:rPr lang="vi-VN" b="1" dirty="0"/>
              <a:t>Vấn đề lớn: Event + DB có bị lệch không?</a:t>
            </a:r>
          </a:p>
          <a:p>
            <a:r>
              <a:rPr lang="en-US" dirty="0"/>
              <a:t>👉 </a:t>
            </a:r>
            <a:r>
              <a:rPr lang="vi-VN" dirty="0"/>
              <a:t>Có thể xảy ra: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 DB OK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nhưng emit event FAIL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😱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</a:t>
            </a:r>
            <a:r>
              <a:rPr lang="vi-VN" b="1" dirty="0"/>
              <a:t>Cách giải quyết chuẩn: Outbox Pattern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Transaction: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Write DB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Write event vào bảng outbox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worker gửi event đi sau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👉 </a:t>
            </a:r>
            <a:r>
              <a:rPr lang="vi-VN" b="1" dirty="0"/>
              <a:t>Kết luận</a:t>
            </a:r>
          </a:p>
          <a:p>
            <a:r>
              <a:rPr lang="vi-VN" dirty="0"/>
              <a:t>Thành phầnTransactionWrite DB</a:t>
            </a:r>
            <a:r>
              <a:rPr lang="en-US" dirty="0"/>
              <a:t>✅ </a:t>
            </a:r>
            <a:r>
              <a:rPr lang="vi-VN" dirty="0"/>
              <a:t>cầnEvent emit</a:t>
            </a:r>
            <a:r>
              <a:rPr lang="en-US" dirty="0"/>
              <a:t>❌ </a:t>
            </a:r>
            <a:r>
              <a:rPr lang="vi-VN" dirty="0"/>
              <a:t>không directRead DB</a:t>
            </a:r>
            <a:r>
              <a:rPr lang="en-US" dirty="0"/>
              <a:t>❌ </a:t>
            </a:r>
            <a:r>
              <a:rPr lang="vi-VN" dirty="0"/>
              <a:t>không cần strict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3. Khi nào KHÔNG dùng CQRS?</a:t>
            </a:r>
          </a:p>
          <a:p>
            <a:r>
              <a:rPr lang="en-US" dirty="0"/>
              <a:t>👉 </a:t>
            </a:r>
            <a:r>
              <a:rPr lang="vi-VN" dirty="0"/>
              <a:t>Đây là câu quan trọng nhất (nhiều người lạm dụng CQRS)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1. </a:t>
            </a:r>
            <a:r>
              <a:rPr lang="vi-VN" b="1" dirty="0"/>
              <a:t>App nhỏ / CRUD đơn giản</a:t>
            </a:r>
          </a:p>
          <a:p>
            <a:r>
              <a:rPr lang="vi-VN" dirty="0"/>
              <a:t>Ví dụ:</a:t>
            </a:r>
          </a:p>
          <a:p>
            <a:r>
              <a:rPr lang="vi-VN" dirty="0"/>
              <a:t>Todo app </a:t>
            </a:r>
          </a:p>
          <a:p>
            <a:r>
              <a:rPr lang="vi-VN" dirty="0"/>
              <a:t>Admin dashboard </a:t>
            </a:r>
          </a:p>
          <a:p>
            <a:r>
              <a:rPr lang="en-US" dirty="0"/>
              <a:t>👉 </a:t>
            </a:r>
            <a:r>
              <a:rPr lang="vi-VN" dirty="0"/>
              <a:t>Dùng CQRS = overkill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2. </a:t>
            </a:r>
            <a:r>
              <a:rPr lang="vi-VN" b="1" dirty="0"/>
              <a:t>Không có read-heavy</a:t>
            </a:r>
          </a:p>
          <a:p>
            <a:r>
              <a:rPr lang="en-US" dirty="0"/>
              <a:t>👉 </a:t>
            </a:r>
            <a:r>
              <a:rPr lang="vi-VN" dirty="0"/>
              <a:t>Nếu: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≈ WRITE</a:t>
            </a:r>
          </a:p>
          <a:p>
            <a:r>
              <a:rPr lang="vi-VN" dirty="0"/>
              <a:t>→ CQRS không có lợi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3. </a:t>
            </a:r>
            <a:r>
              <a:rPr lang="vi-VN" b="1" dirty="0"/>
              <a:t>Cần strong consistency</a:t>
            </a:r>
          </a:p>
          <a:p>
            <a:r>
              <a:rPr lang="vi-VN" dirty="0"/>
              <a:t>Ví dụ:</a:t>
            </a:r>
          </a:p>
          <a:p>
            <a:r>
              <a:rPr lang="vi-VN" dirty="0"/>
              <a:t>Banking (chuyển tiền) </a:t>
            </a:r>
          </a:p>
          <a:p>
            <a:r>
              <a:rPr lang="vi-VN" dirty="0"/>
              <a:t>Số dư tài khoản </a:t>
            </a:r>
          </a:p>
          <a:p>
            <a:r>
              <a:rPr lang="en-US" dirty="0"/>
              <a:t>👉 </a:t>
            </a:r>
            <a:r>
              <a:rPr lang="vi-VN" dirty="0"/>
              <a:t>Không chấp nhận delay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4. </a:t>
            </a:r>
            <a:r>
              <a:rPr lang="vi-VN" b="1" dirty="0"/>
              <a:t>Team chưa đủ kinh nghiệm</a:t>
            </a:r>
          </a:p>
          <a:p>
            <a:r>
              <a:rPr lang="en-US" dirty="0"/>
              <a:t>👉 </a:t>
            </a:r>
            <a:r>
              <a:rPr lang="vi-VN" dirty="0"/>
              <a:t>CQRS có:</a:t>
            </a:r>
          </a:p>
          <a:p>
            <a:r>
              <a:rPr lang="vi-VN" dirty="0"/>
              <a:t>Event </a:t>
            </a:r>
          </a:p>
          <a:p>
            <a:r>
              <a:rPr lang="vi-VN" dirty="0"/>
              <a:t>Queue </a:t>
            </a:r>
          </a:p>
          <a:p>
            <a:r>
              <a:rPr lang="vi-VN" dirty="0"/>
              <a:t>Distributed system </a:t>
            </a:r>
          </a:p>
          <a:p>
            <a:r>
              <a:rPr lang="vi-VN" dirty="0"/>
              <a:t>→ rất dễ lỗi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❌ 5. </a:t>
            </a:r>
            <a:r>
              <a:rPr lang="vi-VN" b="1" dirty="0"/>
              <a:t>Không cần scale</a:t>
            </a:r>
          </a:p>
          <a:p>
            <a:r>
              <a:rPr lang="en-US" dirty="0"/>
              <a:t>👉 </a:t>
            </a:r>
            <a:r>
              <a:rPr lang="vi-VN" dirty="0"/>
              <a:t>Nếu hệ thống:</a:t>
            </a:r>
          </a:p>
          <a:p>
            <a:r>
              <a:rPr lang="vi-VN" dirty="0"/>
              <a:t>1k user </a:t>
            </a:r>
          </a:p>
          <a:p>
            <a:r>
              <a:rPr lang="vi-VN" dirty="0"/>
              <a:t>traffic thấp </a:t>
            </a:r>
          </a:p>
          <a:p>
            <a:r>
              <a:rPr lang="vi-VN" dirty="0"/>
              <a:t>→ không cần CQRS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4. Khi nào NÊN dùng CQRS?</a:t>
            </a:r>
          </a:p>
          <a:p>
            <a:r>
              <a:rPr lang="en-US" dirty="0"/>
              <a:t>👉 </a:t>
            </a:r>
            <a:r>
              <a:rPr lang="vi-VN" dirty="0"/>
              <a:t>Để contrast rõ hơn:</a:t>
            </a:r>
          </a:p>
          <a:p>
            <a:r>
              <a:rPr lang="en-US" dirty="0"/>
              <a:t>✅ </a:t>
            </a:r>
            <a:r>
              <a:rPr lang="vi-VN" dirty="0"/>
              <a:t>Read nhiều hơn write rất nhiều</a:t>
            </a:r>
            <a:br>
              <a:rPr lang="vi-VN" dirty="0"/>
            </a:br>
            <a:r>
              <a:rPr lang="en-US" dirty="0"/>
              <a:t>✅ </a:t>
            </a:r>
            <a:r>
              <a:rPr lang="vi-VN" dirty="0"/>
              <a:t>Cần scale lớn</a:t>
            </a:r>
            <a:br>
              <a:rPr lang="vi-VN" dirty="0"/>
            </a:br>
            <a:r>
              <a:rPr lang="en-US" dirty="0"/>
              <a:t>✅ </a:t>
            </a:r>
            <a:r>
              <a:rPr lang="vi-VN" dirty="0"/>
              <a:t>Có microservices</a:t>
            </a:r>
            <a:br>
              <a:rPr lang="vi-VN" dirty="0"/>
            </a:br>
            <a:r>
              <a:rPr lang="en-US" dirty="0"/>
              <a:t>✅ </a:t>
            </a:r>
            <a:r>
              <a:rPr lang="vi-VN" dirty="0"/>
              <a:t>Chấp nhận eventual consistency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88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 CQRS:</a:t>
            </a:r>
          </a:p>
          <a:p>
            <a:r>
              <a:rPr lang="en-US" dirty="0" err="1"/>
              <a:t>Tách</a:t>
            </a:r>
            <a:r>
              <a:rPr lang="en-US" dirty="0"/>
              <a:t>: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CommandService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QueryService</a:t>
            </a:r>
            <a:r>
              <a:rPr lang="en-US" dirty="0"/>
              <a:t> </a:t>
            </a:r>
          </a:p>
          <a:p>
            <a:r>
              <a:rPr lang="en-US" dirty="0" err="1"/>
              <a:t>Dùng</a:t>
            </a:r>
            <a:r>
              <a:rPr lang="en-US" dirty="0"/>
              <a:t> 2 model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Write Model (</a:t>
            </a:r>
            <a:r>
              <a:rPr lang="en-US" dirty="0" err="1"/>
              <a:t>TodoEntity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Read Model (</a:t>
            </a:r>
            <a:r>
              <a:rPr lang="en-US" dirty="0" err="1"/>
              <a:t>TodoView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2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1C85D-8D56-A41D-AD87-F15875C66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D1FB5-811F-8D53-1AE8-C2E96331E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33F5A-FAA0-6115-B4C4-484A62720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 CQRS:</a:t>
            </a:r>
          </a:p>
          <a:p>
            <a:r>
              <a:rPr lang="en-US" dirty="0" err="1"/>
              <a:t>Tách</a:t>
            </a:r>
            <a:r>
              <a:rPr lang="en-US" dirty="0"/>
              <a:t>: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CommandService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QueryService</a:t>
            </a:r>
            <a:r>
              <a:rPr lang="en-US" dirty="0"/>
              <a:t> </a:t>
            </a:r>
          </a:p>
          <a:p>
            <a:r>
              <a:rPr lang="en-US" dirty="0" err="1"/>
              <a:t>Dùng</a:t>
            </a:r>
            <a:r>
              <a:rPr lang="en-US" dirty="0"/>
              <a:t> 2 model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Write Model (</a:t>
            </a:r>
            <a:r>
              <a:rPr lang="en-US" dirty="0" err="1"/>
              <a:t>TodoEntity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Read Model (</a:t>
            </a:r>
            <a:r>
              <a:rPr lang="en-US" dirty="0" err="1"/>
              <a:t>TodoView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9D8D2-0110-3EEF-E39C-B3C365830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3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D3D8-A121-22F9-0E5C-D490464B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5743A-3B2E-5D3D-045B-DDAB004ED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90227-0446-AD74-0B67-7980B78ED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Thiết kế:</a:t>
            </a:r>
          </a:p>
          <a:p>
            <a:r>
              <a:rPr lang="vi-VN" b="1" dirty="0"/>
              <a:t>Command Side:</a:t>
            </a:r>
          </a:p>
          <a:p>
            <a:r>
              <a:rPr lang="vi-VN" dirty="0"/>
              <a:t>TicketService </a:t>
            </a:r>
          </a:p>
          <a:p>
            <a:r>
              <a:rPr lang="vi-VN" dirty="0"/>
              <a:t>Validate ghế </a:t>
            </a:r>
          </a:p>
          <a:p>
            <a:r>
              <a:rPr lang="vi-VN" dirty="0"/>
              <a:t>Ghi DB </a:t>
            </a:r>
          </a:p>
          <a:p>
            <a:r>
              <a:rPr lang="vi-VN" b="1" dirty="0"/>
              <a:t>Query Side:</a:t>
            </a:r>
          </a:p>
          <a:p>
            <a:r>
              <a:rPr lang="vi-VN" dirty="0"/>
              <a:t>TicketViewService </a:t>
            </a:r>
          </a:p>
          <a:p>
            <a:r>
              <a:rPr lang="vi-VN" dirty="0"/>
              <a:t>Tối ưu query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35186-5665-577F-FA21-7A688A04F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30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F3C4-95CC-86A2-BAC9-47713544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22413-3DC0-88E3-EFC3-1717FAAE3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DF4E9-9226-7AC4-8CBA-4F99F94FA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634C0-5C08-0517-57FF-1FA95B260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8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Event Sourcing là gì?</a:t>
            </a:r>
            <a:endParaRPr lang="vi-VN" dirty="0"/>
          </a:p>
          <a:p>
            <a:r>
              <a:rPr lang="vi-VN" dirty="0"/>
              <a:t>Event Sourcing là một cách lưu trữ dữ liệu </a:t>
            </a:r>
            <a:r>
              <a:rPr lang="vi-VN" b="1" dirty="0"/>
              <a:t>không lưu trạng thái hiện tại</a:t>
            </a:r>
            <a:r>
              <a:rPr lang="vi-VN" dirty="0"/>
              <a:t>, mà lưu </a:t>
            </a:r>
            <a:r>
              <a:rPr lang="vi-VN" b="1" dirty="0"/>
              <a:t>toàn bộ các sự kiện đã xảy ra</a:t>
            </a:r>
            <a:r>
              <a:rPr lang="vi-VN" dirty="0"/>
              <a:t> trong hệ thống.</a:t>
            </a:r>
          </a:p>
          <a:p>
            <a:r>
              <a:rPr lang="vi-VN" dirty="0"/>
              <a:t>Ví dụ:</a:t>
            </a:r>
          </a:p>
          <a:p>
            <a:r>
              <a:rPr lang="vi-VN" dirty="0"/>
              <a:t>Thay vì lưu: 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Balance = 1.000.000</a:t>
            </a:r>
          </a:p>
          <a:p>
            <a:r>
              <a:rPr lang="en-US" dirty="0"/>
              <a:t>👉 </a:t>
            </a:r>
            <a:r>
              <a:rPr lang="vi-VN" dirty="0"/>
              <a:t>Ta lưu: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+1000 (nạp tiền)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-200 (mua hàng)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+500 (hoàn tiền)</a:t>
            </a:r>
          </a:p>
          <a:p>
            <a:r>
              <a:rPr lang="en-US" dirty="0"/>
              <a:t>👉 </a:t>
            </a:r>
            <a:r>
              <a:rPr lang="vi-VN" dirty="0"/>
              <a:t>Trạng thái hiện tại = kết quả của </a:t>
            </a:r>
            <a:r>
              <a:rPr lang="vi-VN" b="1" dirty="0"/>
              <a:t>tất cả event cộng lại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Why use it? – Tại sao dùng?</a:t>
            </a:r>
            <a:endParaRPr lang="vi-VN" dirty="0"/>
          </a:p>
          <a:p>
            <a:r>
              <a:rPr lang="vi-VN" dirty="0"/>
              <a:t>Có 3 lý do chính:</a:t>
            </a:r>
          </a:p>
          <a:p>
            <a:r>
              <a:rPr lang="vi-VN" b="1" dirty="0"/>
              <a:t>1. Audit (truy vết)</a:t>
            </a:r>
          </a:p>
          <a:p>
            <a:r>
              <a:rPr lang="en-US" dirty="0"/>
              <a:t>👉 </a:t>
            </a:r>
            <a:r>
              <a:rPr lang="vi-VN" dirty="0"/>
              <a:t>Biết chính xác:</a:t>
            </a:r>
          </a:p>
          <a:p>
            <a:r>
              <a:rPr lang="vi-VN" dirty="0"/>
              <a:t>Ai làm gì </a:t>
            </a:r>
          </a:p>
          <a:p>
            <a:r>
              <a:rPr lang="vi-VN" dirty="0"/>
              <a:t>Khi nào </a:t>
            </a:r>
          </a:p>
          <a:p>
            <a:r>
              <a:rPr lang="vi-VN" dirty="0"/>
              <a:t>→ Rất quan trọng trong:</a:t>
            </a:r>
          </a:p>
          <a:p>
            <a:r>
              <a:rPr lang="vi-VN" dirty="0"/>
              <a:t>Banking </a:t>
            </a:r>
          </a:p>
          <a:p>
            <a:r>
              <a:rPr lang="vi-VN" dirty="0"/>
              <a:t>E-commerce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2. Debug dễ hơn</a:t>
            </a:r>
          </a:p>
          <a:p>
            <a:r>
              <a:rPr lang="en-US" dirty="0"/>
              <a:t>👉 </a:t>
            </a:r>
            <a:r>
              <a:rPr lang="vi-VN" dirty="0"/>
              <a:t>Nếu bug:</a:t>
            </a:r>
          </a:p>
          <a:p>
            <a:r>
              <a:rPr lang="vi-VN" dirty="0"/>
              <a:t>Chỉ cần replay lại event </a:t>
            </a:r>
          </a:p>
          <a:p>
            <a:r>
              <a:rPr lang="vi-VN" dirty="0"/>
              <a:t>Xem hệ thống sai ở đâu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3. Rebuild state</a:t>
            </a:r>
          </a:p>
          <a:p>
            <a:r>
              <a:rPr lang="en-US" dirty="0"/>
              <a:t>👉 </a:t>
            </a:r>
            <a:r>
              <a:rPr lang="vi-VN" dirty="0"/>
              <a:t>Nếu Read DB hỏng:</a:t>
            </a:r>
          </a:p>
          <a:p>
            <a:r>
              <a:rPr lang="vi-VN" dirty="0"/>
              <a:t>Không sao </a:t>
            </a:r>
            <a:r>
              <a:rPr lang="en-US" dirty="0"/>
              <a:t>😄 </a:t>
            </a:r>
          </a:p>
          <a:p>
            <a:r>
              <a:rPr lang="vi-VN" dirty="0"/>
              <a:t>Replay lại toàn bộ event → dựng lại state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How it works? – Cách hoạt động</a:t>
            </a:r>
            <a:endParaRPr lang="vi-VN" dirty="0"/>
          </a:p>
          <a:p>
            <a:r>
              <a:rPr lang="vi-VN" dirty="0"/>
              <a:t>Flow rất đơn giản: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 → Validate → Generate Event → Save Event</a:t>
            </a:r>
          </a:p>
          <a:p>
            <a:r>
              <a:rPr lang="en-US" dirty="0"/>
              <a:t>👉 </a:t>
            </a:r>
            <a:r>
              <a:rPr lang="vi-VN" dirty="0"/>
              <a:t>Không lưu state trực tiếp</a:t>
            </a:r>
            <a:br>
              <a:rPr lang="vi-VN" dirty="0"/>
            </a:br>
            <a:r>
              <a:rPr lang="en-US" dirty="0"/>
              <a:t>👉 </a:t>
            </a:r>
            <a:r>
              <a:rPr lang="vi-VN" dirty="0"/>
              <a:t>Chỉ lưu event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Khi cần đọc: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 events → Replay → Build state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🔑 </a:t>
            </a:r>
            <a:r>
              <a:rPr lang="vi-VN" b="1" dirty="0"/>
              <a:t>Keywords quan trọng</a:t>
            </a:r>
          </a:p>
          <a:p>
            <a:r>
              <a:rPr lang="vi-VN" b="1" dirty="0"/>
              <a:t>1. Event</a:t>
            </a:r>
          </a:p>
          <a:p>
            <a:r>
              <a:rPr lang="en-US" dirty="0"/>
              <a:t>👉 </a:t>
            </a:r>
            <a:r>
              <a:rPr lang="vi-VN" dirty="0"/>
              <a:t>Là “sự thật đã xảy ra”</a:t>
            </a:r>
          </a:p>
          <a:p>
            <a:r>
              <a:rPr lang="vi-VN" dirty="0"/>
              <a:t>Immutable (không sửa) </a:t>
            </a:r>
          </a:p>
          <a:p>
            <a:r>
              <a:rPr lang="vi-VN" dirty="0"/>
              <a:t>Ví dụ: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OrderCreated</a:t>
            </a:r>
            <a:r>
              <a:rPr lang="vi-VN" dirty="0"/>
              <a:t>,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MoneyDeposited</a:t>
            </a:r>
            <a:r>
              <a:rPr lang="vi-VN" dirty="0"/>
              <a:t> 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2. Replay</a:t>
            </a:r>
          </a:p>
          <a:p>
            <a:r>
              <a:rPr lang="en-US" dirty="0"/>
              <a:t>👉 </a:t>
            </a:r>
            <a:r>
              <a:rPr lang="vi-VN" dirty="0"/>
              <a:t>Chạy lại toàn bộ event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Event1 + Event2 + Event3 → State hiện tại</a:t>
            </a:r>
          </a:p>
          <a:p>
            <a:r>
              <a:rPr lang="en-US" dirty="0"/>
              <a:t>👉 </a:t>
            </a:r>
            <a:r>
              <a:rPr lang="vi-VN" dirty="0"/>
              <a:t>Giống như “phát lại lịch sử”</a:t>
            </a:r>
          </a:p>
          <a:p>
            <a:br>
              <a:rPr lang="vi-VN" dirty="0"/>
            </a:br>
            <a:endParaRPr lang="vi-VN" dirty="0"/>
          </a:p>
          <a:p>
            <a:r>
              <a:rPr lang="vi-VN" b="1" dirty="0"/>
              <a:t>3. State</a:t>
            </a:r>
          </a:p>
          <a:p>
            <a:r>
              <a:rPr lang="en-US" dirty="0"/>
              <a:t>👉 </a:t>
            </a:r>
            <a:r>
              <a:rPr lang="vi-VN" dirty="0"/>
              <a:t>Không lưu trực tiếp</a:t>
            </a:r>
            <a:br>
              <a:rPr lang="vi-VN" dirty="0"/>
            </a:br>
            <a:r>
              <a:rPr lang="en-US" dirty="0"/>
              <a:t>👉 </a:t>
            </a:r>
            <a:r>
              <a:rPr lang="vi-VN" dirty="0"/>
              <a:t>Luôn được </a:t>
            </a:r>
            <a:r>
              <a:rPr lang="vi-VN" b="1" dirty="0"/>
              <a:t>tính lại từ event</a:t>
            </a:r>
            <a:endParaRPr lang="vi-VN" dirty="0"/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💡 </a:t>
            </a:r>
            <a:r>
              <a:rPr lang="vi-VN" b="1" dirty="0"/>
              <a:t>Insight chốt (rất quan trọng)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 DB: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Lưu state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Sourcing: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Lưu lịch sử (event)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State = kết quả tính toán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🔥 </a:t>
            </a:r>
            <a:r>
              <a:rPr lang="vi-VN" b="1" dirty="0"/>
              <a:t>Ví dụ dễ hiểu (Shopee)</a:t>
            </a:r>
          </a:p>
          <a:p>
            <a:r>
              <a:rPr lang="vi-VN" dirty="0"/>
              <a:t>User đặt hàng: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OrderCreated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OrderPaid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OrderShipped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OrderDelivered</a:t>
            </a:r>
          </a:p>
          <a:p>
            <a:r>
              <a:rPr lang="en-US" dirty="0"/>
              <a:t>👉 </a:t>
            </a:r>
            <a:r>
              <a:rPr lang="vi-VN" dirty="0"/>
              <a:t>Không cần cột </a:t>
            </a: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  <a:endParaRPr lang="vi-VN" dirty="0"/>
          </a:p>
          <a:p>
            <a:r>
              <a:rPr lang="en-US" dirty="0"/>
              <a:t>👉 </a:t>
            </a:r>
            <a:r>
              <a:rPr lang="vi-VN" dirty="0"/>
              <a:t>Status = event cuối cùng</a:t>
            </a:r>
          </a:p>
          <a:p>
            <a:br>
              <a:rPr lang="vi-VN" dirty="0"/>
            </a:br>
            <a:endParaRPr lang="vi-VN" dirty="0"/>
          </a:p>
          <a:p>
            <a:r>
              <a:rPr lang="en-US" b="1" dirty="0"/>
              <a:t>🎯 </a:t>
            </a:r>
            <a:r>
              <a:rPr lang="vi-VN" b="1" dirty="0"/>
              <a:t>Câu chốt để kết thúc</a:t>
            </a:r>
          </a:p>
          <a:p>
            <a:pPr rtl="0"/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 Sourcing không lưu dữ liệu hiện tại,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mà lưu toàn bộ lịch sử thay đổi,</a:t>
            </a:r>
            <a:b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vi-V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và trạng thái chỉ là kết quả của việc replay các event đó.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57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claude.ai</a:t>
            </a:r>
            <a:r>
              <a:rPr lang="en-US" dirty="0"/>
              <a:t>/share/</a:t>
            </a:r>
            <a:r>
              <a:rPr lang="en-US" dirty="0" err="1"/>
              <a:t>978a6a5a-621a-47d9-a9a1-e60f62ec6a43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BAD03-A4E3-4296-8A27-F87F5BC7CC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gray">
          <a:xfrm>
            <a:off x="609601" y="1371600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GB" sz="1800">
              <a:latin typeface="Tahoma" pitchFamily="34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133601"/>
            <a:ext cx="10363200" cy="1470025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en-US" altLang="vi-VN" noProof="0" dirty="0"/>
              <a:t>Click to edit Master title style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173357" y="3819940"/>
            <a:ext cx="85344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vi-VN" noProof="0" dirty="0"/>
              <a:t>Click to edit Master subtitle style</a:t>
            </a:r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810361" y="6245225"/>
            <a:ext cx="2844800" cy="476250"/>
          </a:xfrm>
        </p:spPr>
        <p:txBody>
          <a:bodyPr/>
          <a:lstStyle>
            <a:lvl1pPr>
              <a:defRPr b="1" i="1"/>
            </a:lvl1pPr>
          </a:lstStyle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63847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1448" name="Picture 8" descr="8eCarthage-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BF195A6-9E0B-085B-817E-332905C5E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61" y="125413"/>
            <a:ext cx="305752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3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  <a:effectLst/>
              </a:defRPr>
            </a:lvl1pPr>
            <a:lvl2pPr>
              <a:defRPr>
                <a:solidFill>
                  <a:schemeClr val="accent4"/>
                </a:solidFill>
                <a:effectLst/>
              </a:defRPr>
            </a:lvl2pPr>
            <a:lvl3pPr>
              <a:defRPr>
                <a:solidFill>
                  <a:schemeClr val="accent4"/>
                </a:solidFill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1"/>
            </a:lvl1pPr>
          </a:lstStyle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23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3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1219200"/>
            <a:ext cx="5181600" cy="4927600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219200"/>
            <a:ext cx="5181600" cy="4927600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8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288926"/>
            <a:ext cx="10515600" cy="69504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136375"/>
            <a:ext cx="5158316" cy="823912"/>
          </a:xfrm>
        </p:spPr>
        <p:txBody>
          <a:bodyPr anchor="b"/>
          <a:lstStyle>
            <a:lvl1pPr marL="0" indent="0">
              <a:buNone/>
              <a:defRPr sz="2800" b="1">
                <a:effectLst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1960286"/>
            <a:ext cx="5158316" cy="4288113"/>
          </a:xfrm>
        </p:spPr>
        <p:txBody>
          <a:bodyPr/>
          <a:lstStyle>
            <a:lvl1pPr>
              <a:defRPr sz="2400">
                <a:effectLst/>
              </a:defRPr>
            </a:lvl1pPr>
            <a:lvl2pPr>
              <a:defRPr sz="2000"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36375"/>
            <a:ext cx="5183717" cy="823912"/>
          </a:xfrm>
        </p:spPr>
        <p:txBody>
          <a:bodyPr anchor="b"/>
          <a:lstStyle>
            <a:lvl1pPr marL="0" indent="0">
              <a:buNone/>
              <a:defRPr lang="en-US" sz="28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0287"/>
            <a:ext cx="5183717" cy="4288112"/>
          </a:xfrm>
        </p:spPr>
        <p:txBody>
          <a:bodyPr/>
          <a:lstStyle>
            <a:lvl1pPr marL="342900" indent="-342900">
              <a:defRPr lang="en-US" sz="24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>
              <a:defRPr lang="en-US" sz="2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marL="342900" lvl="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˗"/>
            </a:pPr>
            <a:r>
              <a:rPr lang="en-US" dirty="0"/>
              <a:t>Click to edit Master text styles</a:t>
            </a:r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21738"/>
              </a:buClr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1"/>
            </a:lvl1pPr>
          </a:lstStyle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9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2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9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>
                <a:effectLst/>
              </a:defRPr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>
                <a:effectLst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vi-V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>
                <a:effectLst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8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9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28600"/>
            <a:ext cx="2743200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28600"/>
            <a:ext cx="8026400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56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9728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1219200"/>
            <a:ext cx="5181600" cy="492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00" y="1219200"/>
            <a:ext cx="5181600" cy="492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8534400" cy="457200"/>
          </a:xfrm>
        </p:spPr>
        <p:txBody>
          <a:bodyPr/>
          <a:lstStyle>
            <a:lvl1pPr>
              <a:defRPr/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40800" y="64008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8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C0A5-A1F6-B7DF-AC93-FCCEEDB7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D9858-09C3-CB0B-5279-2C699FFA0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4E935-8FBD-DF18-9F5F-DE489CEA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4AD10-5B21-582C-79C0-CFB683ED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08EF5-A73E-D3E9-B5AD-96F8A8DB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34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6112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425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9115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94841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8178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774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279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9649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904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6563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5818" y="381001"/>
            <a:ext cx="2654300" cy="5751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0801" y="381001"/>
            <a:ext cx="7761817" cy="5751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18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gray">
          <a:xfrm>
            <a:off x="918634" y="990600"/>
            <a:ext cx="10968567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GB" sz="1800">
              <a:latin typeface="Tahoma" pitchFamily="34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972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title style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219200"/>
            <a:ext cx="10566400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text styles</a:t>
            </a:r>
          </a:p>
          <a:p>
            <a:pPr lvl="1"/>
            <a:r>
              <a:rPr lang="en-US" altLang="vi-VN"/>
              <a:t>Second level</a:t>
            </a:r>
          </a:p>
          <a:p>
            <a:pPr lvl="2"/>
            <a:r>
              <a:rPr lang="en-US" altLang="vi-VN"/>
              <a:t>Third level</a:t>
            </a:r>
          </a:p>
          <a:p>
            <a:pPr lvl="3"/>
            <a:r>
              <a:rPr lang="en-US" altLang="vi-VN"/>
              <a:t>Fourth level</a:t>
            </a:r>
          </a:p>
          <a:p>
            <a:pPr lvl="4"/>
            <a:r>
              <a:rPr lang="en-US" altLang="vi-VN"/>
              <a:t>Fifth level</a:t>
            </a:r>
          </a:p>
        </p:txBody>
      </p:sp>
      <p:sp>
        <p:nvSpPr>
          <p:cNvPr id="1638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1048E46E-27FE-4ED5-BDB1-C6A0639E32DC}" type="datetimeFigureOut">
              <a:rPr lang="en-US" smtClean="0"/>
              <a:t>13/04/2026</a:t>
            </a:fld>
            <a:endParaRPr lang="en-US"/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800"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38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2D25BB-FA73-4E54-9C0D-A6F5F2640D18}" type="slidenum">
              <a:rPr lang="en-US" smtClean="0"/>
              <a:t>‹#›</a:t>
            </a:fld>
            <a:endParaRPr lang="en-US"/>
          </a:p>
        </p:txBody>
      </p:sp>
      <p:pic>
        <p:nvPicPr>
          <p:cNvPr id="60424" name="Picture 8" descr="8eCarthage-11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719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marL="685800" indent="-685800"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marL="6858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2pPr>
      <a:lvl3pPr marL="6858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3pPr>
      <a:lvl4pPr marL="6858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4pPr>
      <a:lvl5pPr marL="6858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5pPr>
      <a:lvl6pPr marL="11430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6pPr>
      <a:lvl7pPr marL="16002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7pPr>
      <a:lvl8pPr marL="20574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8pPr>
      <a:lvl9pPr marL="2514600" indent="-685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DF1738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˗"/>
        <a:defRPr sz="28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E21738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8877D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3DAB0"/>
        </a:buClr>
        <a:buFont typeface="Wingdings" panose="05000000000000000000" pitchFamily="2" charset="2"/>
        <a:buChar char="©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3DAB0"/>
        </a:buClr>
        <a:buFont typeface="Wingdings" panose="05000000000000000000" pitchFamily="2" charset="2"/>
        <a:buChar char="©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GB" sz="1800">
              <a:latin typeface="Tahoma" pitchFamily="34" charset="0"/>
              <a:cs typeface="Arial" charset="0"/>
            </a:endParaRPr>
          </a:p>
        </p:txBody>
      </p:sp>
      <p:sp>
        <p:nvSpPr>
          <p:cNvPr id="163842" name="Rectangle 2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GB" sz="1800">
              <a:latin typeface="Tahoma" pitchFamily="34" charset="0"/>
              <a:ea typeface="ＭＳ Ｐゴシック" pitchFamily="34" charset="-128"/>
              <a:cs typeface="Arial" charset="0"/>
            </a:endParaRPr>
          </a:p>
        </p:txBody>
      </p:sp>
      <p:pic>
        <p:nvPicPr>
          <p:cNvPr id="63492" name="Picture 8" descr="8eCarthage-1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25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9" descr="8eCarthage-21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1" y="457201"/>
            <a:ext cx="1293284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19200" y="6477001"/>
            <a:ext cx="6807200" cy="2444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00">
                <a:latin typeface="Arial" charset="0"/>
                <a:ea typeface="ＭＳ Ｐゴシック" pitchFamily="34" charset="-128"/>
                <a:cs typeface="Arial" charset="0"/>
              </a:rPr>
              <a:t>Copyright © 2011 Pearson Education</a:t>
            </a:r>
          </a:p>
        </p:txBody>
      </p:sp>
      <p:sp>
        <p:nvSpPr>
          <p:cNvPr id="634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1" y="381000"/>
            <a:ext cx="105029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title style</a:t>
            </a:r>
          </a:p>
        </p:txBody>
      </p:sp>
      <p:sp>
        <p:nvSpPr>
          <p:cNvPr id="634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text styles</a:t>
            </a:r>
          </a:p>
          <a:p>
            <a:pPr lvl="1"/>
            <a:r>
              <a:rPr lang="en-US" altLang="vi-VN"/>
              <a:t>Second level</a:t>
            </a:r>
          </a:p>
          <a:p>
            <a:pPr lvl="2"/>
            <a:r>
              <a:rPr lang="en-US" altLang="vi-VN"/>
              <a:t>Third level</a:t>
            </a:r>
          </a:p>
          <a:p>
            <a:pPr lvl="3"/>
            <a:r>
              <a:rPr lang="en-US" altLang="vi-VN"/>
              <a:t>Fourth level</a:t>
            </a:r>
          </a:p>
          <a:p>
            <a:pPr lvl="4"/>
            <a:r>
              <a:rPr lang="en-US" altLang="vi-VN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467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DF173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DF1738"/>
          </a:solidFill>
          <a:latin typeface="Tahoma" panose="020B060403050404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E21738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8877D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3DAB0"/>
        </a:buClr>
        <a:buFont typeface="Wingdings" panose="05000000000000000000" pitchFamily="2" charset="2"/>
        <a:buChar char="©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3DAB0"/>
        </a:buClr>
        <a:buFont typeface="Wingdings" panose="05000000000000000000" pitchFamily="2" charset="2"/>
        <a:buChar char="©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dirty="0"/>
              <a:t>CQRS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3792" y="4572450"/>
            <a:ext cx="4470837" cy="631744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Nguyễn Trọng Tiến</a:t>
            </a:r>
          </a:p>
        </p:txBody>
      </p:sp>
    </p:spTree>
    <p:extLst>
      <p:ext uri="{BB962C8B-B14F-4D97-AF65-F5344CB8AC3E}">
        <p14:creationId xmlns:p14="http://schemas.microsoft.com/office/powerpoint/2010/main" val="135005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CQRS (Command Query Responsibility Segregation)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dirty="0"/>
              <a:t>Solution</a:t>
            </a:r>
          </a:p>
          <a:p>
            <a:r>
              <a:rPr lang="en-US" dirty="0"/>
              <a:t>Command (</a:t>
            </a:r>
            <a:r>
              <a:rPr lang="en-US" dirty="0" err="1"/>
              <a:t>Ghi</a:t>
            </a:r>
            <a:r>
              <a:rPr lang="en-US" dirty="0"/>
              <a:t>) →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r>
              <a:rPr lang="en-US" dirty="0"/>
              <a:t>Query (</a:t>
            </a:r>
            <a:r>
              <a:rPr lang="en-US" dirty="0" err="1"/>
              <a:t>Đọc</a:t>
            </a:r>
            <a:r>
              <a:rPr lang="en-US" dirty="0"/>
              <a:t>) →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gì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Nguyên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cốt</a:t>
            </a:r>
            <a:r>
              <a:rPr lang="en-US" i="1" dirty="0"/>
              <a:t> </a:t>
            </a:r>
            <a:r>
              <a:rPr lang="en-US" i="1" dirty="0" err="1"/>
              <a:t>lõi</a:t>
            </a:r>
            <a:r>
              <a:rPr lang="en-US" i="1" dirty="0"/>
              <a:t>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model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”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F711-F30E-100E-62C1-AFE67038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2194-550F-A1F1-D97D-ABD3B8B4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tàu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9A63-8B2C-CCA4-B035-47BEA7B3E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Command: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Thanh </a:t>
            </a:r>
            <a:r>
              <a:rPr lang="en-US" dirty="0" err="1"/>
              <a:t>toán</a:t>
            </a:r>
            <a:r>
              <a:rPr lang="en-US" dirty="0"/>
              <a:t> </a:t>
            </a:r>
          </a:p>
          <a:p>
            <a:r>
              <a:rPr lang="en-US" b="1" dirty="0"/>
              <a:t>Query: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Xem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Xem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chuyến</a:t>
            </a:r>
            <a:r>
              <a:rPr lang="en-US" dirty="0"/>
              <a:t> </a:t>
            </a:r>
            <a:r>
              <a:rPr lang="en-US" dirty="0" err="1"/>
              <a:t>tàu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CQRS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:</a:t>
            </a:r>
          </a:p>
          <a:p>
            <a:r>
              <a:rPr lang="en-US" dirty="0"/>
              <a:t>Service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≠ Service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8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090246"/>
            <a:ext cx="10566400" cy="4927600"/>
          </a:xfrm>
        </p:spPr>
        <p:txBody>
          <a:bodyPr/>
          <a:lstStyle/>
          <a:p>
            <a:pPr marL="0" indent="0">
              <a:buNone/>
            </a:pPr>
            <a:r>
              <a:rPr lang="vi-VN" b="1" dirty="0"/>
              <a:t>1. </a:t>
            </a:r>
            <a:r>
              <a:rPr lang="vi-VN" sz="2400" b="1" dirty="0"/>
              <a:t>Command Side (Write)</a:t>
            </a:r>
          </a:p>
          <a:p>
            <a:pPr lvl="1"/>
            <a:r>
              <a:rPr lang="vi-VN" sz="2000" dirty="0"/>
              <a:t>Nhận request thay đổi dữ liệu </a:t>
            </a:r>
          </a:p>
          <a:p>
            <a:pPr lvl="1"/>
            <a:r>
              <a:rPr lang="vi-VN" sz="2000" dirty="0"/>
              <a:t>Validate logic nghiệp vụ </a:t>
            </a:r>
          </a:p>
          <a:p>
            <a:pPr lvl="1"/>
            <a:r>
              <a:rPr lang="vi-VN" sz="2000" dirty="0"/>
              <a:t>Ghi vào DB (Write DB) </a:t>
            </a:r>
          </a:p>
          <a:p>
            <a:pPr marL="0" indent="0">
              <a:buNone/>
            </a:pPr>
            <a:r>
              <a:rPr lang="vi-VN" sz="2400" b="1" dirty="0"/>
              <a:t>2. Query Side (Read)</a:t>
            </a:r>
          </a:p>
          <a:p>
            <a:pPr lvl="1"/>
            <a:r>
              <a:rPr lang="vi-VN" sz="2000" dirty="0"/>
              <a:t>Chỉ đọc dữ liệu </a:t>
            </a:r>
          </a:p>
          <a:p>
            <a:pPr lvl="1"/>
            <a:r>
              <a:rPr lang="vi-VN" sz="2000" dirty="0"/>
              <a:t>Dùng Read DB (được tối ưu riêng) </a:t>
            </a:r>
          </a:p>
          <a:p>
            <a:pPr marL="0" indent="0">
              <a:buNone/>
            </a:pPr>
            <a:r>
              <a:rPr lang="vi-VN" sz="2400" b="1" dirty="0"/>
              <a:t>3. Event / Sync (optional</a:t>
            </a:r>
            <a:r>
              <a:rPr lang="en-US" sz="2400" b="1" dirty="0"/>
              <a:t>)</a:t>
            </a:r>
            <a:endParaRPr lang="vi-VN" sz="2400" b="1" dirty="0"/>
          </a:p>
          <a:p>
            <a:pPr lvl="1"/>
            <a:r>
              <a:rPr lang="vi-VN" sz="2000" dirty="0"/>
              <a:t>Đồng bộ dữ liệu giữa Write → Read </a:t>
            </a:r>
          </a:p>
          <a:p>
            <a:pPr lvl="1"/>
            <a:r>
              <a:rPr lang="vi-VN" sz="2000" dirty="0"/>
              <a:t>Thường dùng: </a:t>
            </a:r>
          </a:p>
          <a:p>
            <a:pPr lvl="2"/>
            <a:r>
              <a:rPr lang="vi-VN" sz="1600" dirty="0"/>
              <a:t>Event Bus (Kafka, RabbitMQ) </a:t>
            </a:r>
          </a:p>
          <a:p>
            <a:pPr lvl="2"/>
            <a:r>
              <a:rPr lang="vi-VN" sz="1600" dirty="0"/>
              <a:t>Event Sourcing</a:t>
            </a:r>
          </a:p>
          <a:p>
            <a:endParaRPr dirty="0"/>
          </a:p>
        </p:txBody>
      </p:sp>
      <p:pic>
        <p:nvPicPr>
          <p:cNvPr id="2050" name="Picture 2" descr="Tổng quan về CQRS – Thiết kế hệ thống chịu tải lớn và dễ bảo trì">
            <a:extLst>
              <a:ext uri="{FF2B5EF4-FFF2-40B4-BE49-F238E27FC236}">
                <a16:creationId xmlns:a16="http://schemas.microsoft.com/office/drawing/2014/main" id="{0494DD77-459D-1768-DB62-82031D674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93714"/>
            <a:ext cx="5175738" cy="437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CRUD vs CQRS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6892EF-A772-2A68-1B84-3952E645C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114950"/>
              </p:ext>
            </p:extLst>
          </p:nvPr>
        </p:nvGraphicFramePr>
        <p:xfrm>
          <a:off x="1117600" y="1219200"/>
          <a:ext cx="105663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133">
                  <a:extLst>
                    <a:ext uri="{9D8B030D-6E8A-4147-A177-3AD203B41FA5}">
                      <a16:colId xmlns:a16="http://schemas.microsoft.com/office/drawing/2014/main" val="4249603274"/>
                    </a:ext>
                  </a:extLst>
                </a:gridCol>
                <a:gridCol w="3522133">
                  <a:extLst>
                    <a:ext uri="{9D8B030D-6E8A-4147-A177-3AD203B41FA5}">
                      <a16:colId xmlns:a16="http://schemas.microsoft.com/office/drawing/2014/main" val="1033070389"/>
                    </a:ext>
                  </a:extLst>
                </a:gridCol>
                <a:gridCol w="3522133">
                  <a:extLst>
                    <a:ext uri="{9D8B030D-6E8A-4147-A177-3AD203B41FA5}">
                      <a16:colId xmlns:a16="http://schemas.microsoft.com/office/drawing/2014/main" val="404522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Tiêu chí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CQRS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33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60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Trung bình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Tối ưu 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193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Khó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Scale tốt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58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Thấp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274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Phù hợp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 nhỏ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</a:t>
                      </a:r>
                      <a:r>
                        <a:rPr lang="en-US" dirty="0" err="1"/>
                        <a:t>lớn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25793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+ CQRS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lvl="1" indent="-342900"/>
            <a:r>
              <a:rPr lang="en-US" dirty="0"/>
              <a:t>Flow: Command → Write DB</a:t>
            </a:r>
          </a:p>
          <a:p>
            <a:pPr lvl="1" indent="-342900"/>
            <a:r>
              <a:rPr lang="en-US" dirty="0"/>
              <a:t>Emit Event</a:t>
            </a:r>
          </a:p>
          <a:p>
            <a:pPr lvl="1" indent="-342900"/>
            <a:r>
              <a:rPr lang="en-US" dirty="0"/>
              <a:t>Update Read DB</a:t>
            </a:r>
          </a:p>
          <a:p>
            <a:pPr marL="0" indent="0">
              <a:buNone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:</a:t>
            </a:r>
          </a:p>
          <a:p>
            <a:pPr lvl="1" indent="-342900"/>
            <a:r>
              <a:rPr lang="en-US" dirty="0"/>
              <a:t>Eventual consistency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</a:p>
          <a:p>
            <a:pPr lvl="1" indent="-342900"/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Read DB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delay</a:t>
            </a:r>
          </a:p>
          <a:p>
            <a:pPr marL="40005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9E3EA-9EFE-83AC-3E04-552101FDC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099" y="1219200"/>
            <a:ext cx="5564144" cy="353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547E-5795-03EB-07FC-02DE0736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088A-5266-973D-8E9D-D7EA749F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</a:t>
            </a:r>
            <a:r>
              <a:rPr lang="en-US" dirty="0" err="1"/>
              <a:t>trong</a:t>
            </a:r>
            <a:r>
              <a:rPr lang="en-US" dirty="0"/>
              <a:t> CQRS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E0B0-73E4-3566-3978-B60AEF0C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198" y="1219200"/>
            <a:ext cx="10609802" cy="5181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Scale Read:</a:t>
            </a:r>
          </a:p>
          <a:p>
            <a:pPr lvl="1" indent="-342900"/>
            <a:r>
              <a:rPr lang="en-US" sz="2800" dirty="0" err="1"/>
              <a:t>nhiều</a:t>
            </a:r>
            <a:r>
              <a:rPr lang="en-US" sz="2800" dirty="0"/>
              <a:t> replica</a:t>
            </a:r>
          </a:p>
          <a:p>
            <a:pPr marL="0" indent="0">
              <a:buNone/>
            </a:pPr>
            <a:r>
              <a:rPr lang="en-US" dirty="0"/>
              <a:t>Scale Write:</a:t>
            </a:r>
          </a:p>
          <a:p>
            <a:pPr marL="857250" lvl="1" indent="-457200"/>
            <a:r>
              <a:rPr lang="en-US" sz="2800" dirty="0"/>
              <a:t>shard</a:t>
            </a:r>
          </a:p>
          <a:p>
            <a:pPr marL="0" indent="0">
              <a:buNone/>
            </a:pPr>
            <a:r>
              <a:rPr lang="en-US" dirty="0"/>
              <a:t>Case:</a:t>
            </a:r>
          </a:p>
          <a:p>
            <a:pPr marL="0" indent="0">
              <a:buNone/>
            </a:pPr>
            <a:r>
              <a:rPr lang="en-US" dirty="0"/>
              <a:t>Facebook: </a:t>
            </a:r>
          </a:p>
          <a:p>
            <a:pPr lvl="1" indent="-342900"/>
            <a:r>
              <a:rPr lang="en-US" sz="2800" dirty="0"/>
              <a:t>write </a:t>
            </a:r>
            <a:r>
              <a:rPr lang="en-US" sz="2800" dirty="0" err="1"/>
              <a:t>ít</a:t>
            </a:r>
            <a:endParaRPr lang="en-US" sz="2800" dirty="0"/>
          </a:p>
          <a:p>
            <a:pPr lvl="1" indent="-342900"/>
            <a:r>
              <a:rPr lang="en-US" sz="2800" dirty="0"/>
              <a:t>read </a:t>
            </a:r>
            <a:r>
              <a:rPr lang="en-US" sz="2800" dirty="0" err="1"/>
              <a:t>cực</a:t>
            </a:r>
            <a:r>
              <a:rPr lang="en-US" sz="2800" dirty="0"/>
              <a:t> </a:t>
            </a:r>
            <a:r>
              <a:rPr lang="en-US" sz="2800" dirty="0" err="1"/>
              <a:t>nhiều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07F56-B391-B081-8F80-C244706C0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643" y="2065660"/>
            <a:ext cx="4201111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8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040AF-DBF9-3A35-EFD3-E75726C3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FB35-459A-B3B0-3A7D-E40CA253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 + Microservices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DDB17-B367-0686-F0AA-E853B56DE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CQRS thường đi với:</a:t>
            </a:r>
            <a:endParaRPr lang="en-US" dirty="0"/>
          </a:p>
          <a:p>
            <a:pPr lvl="1" indent="-342900"/>
            <a:r>
              <a:rPr lang="vi-VN" sz="2800" dirty="0"/>
              <a:t>Event-driven architecture</a:t>
            </a:r>
            <a:endParaRPr lang="en-US" sz="2800" dirty="0"/>
          </a:p>
          <a:p>
            <a:pPr lvl="1" indent="-342900"/>
            <a:r>
              <a:rPr lang="vi-VN" sz="2800" dirty="0"/>
              <a:t>Microservices</a:t>
            </a:r>
            <a:endParaRPr lang="en-US" sz="2800" dirty="0"/>
          </a:p>
          <a:p>
            <a:pPr marL="0" indent="0">
              <a:buNone/>
            </a:pPr>
            <a:r>
              <a:rPr lang="vi-VN" dirty="0"/>
              <a:t>Pattern</a:t>
            </a:r>
            <a:r>
              <a:rPr lang="en-US" dirty="0"/>
              <a:t>-</a:t>
            </a:r>
            <a:r>
              <a:rPr lang="vi-VN" dirty="0"/>
              <a:t>mỗi service có:</a:t>
            </a:r>
            <a:endParaRPr lang="en-US" dirty="0"/>
          </a:p>
          <a:p>
            <a:pPr lvl="1" indent="-342900"/>
            <a:r>
              <a:rPr lang="vi-VN" sz="2800" dirty="0"/>
              <a:t>DB riêng</a:t>
            </a:r>
            <a:endParaRPr lang="en-US" sz="2800" dirty="0"/>
          </a:p>
          <a:p>
            <a:pPr lvl="1" indent="-342900"/>
            <a:r>
              <a:rPr lang="vi-VN" sz="2800" dirty="0"/>
              <a:t>read model riêng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493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&amp;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vé</a:t>
            </a:r>
            <a:r>
              <a:rPr lang="en-US" dirty="0"/>
              <a:t> </a:t>
            </a:r>
            <a:r>
              <a:rPr lang="en-US" dirty="0" err="1"/>
              <a:t>tàu</a:t>
            </a:r>
            <a:r>
              <a:rPr lang="en-US" dirty="0"/>
              <a:t> </a:t>
            </a:r>
          </a:p>
          <a:p>
            <a:r>
              <a:rPr lang="en-US" u="sng" dirty="0" err="1"/>
              <a:t>Yêu</a:t>
            </a:r>
            <a:r>
              <a:rPr lang="en-US" u="sng" dirty="0"/>
              <a:t> </a:t>
            </a:r>
            <a:r>
              <a:rPr lang="en-US" u="sng" dirty="0" err="1"/>
              <a:t>cầu</a:t>
            </a:r>
            <a:r>
              <a:rPr lang="en-US" dirty="0"/>
              <a:t>: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CQRS </a:t>
            </a:r>
            <a:r>
              <a:rPr lang="en-US" dirty="0" err="1"/>
              <a:t>cho</a:t>
            </a:r>
            <a:endParaRPr lang="en-US" dirty="0"/>
          </a:p>
          <a:p>
            <a:pPr lvl="1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vé</a:t>
            </a:r>
            <a:endParaRPr lang="en-US" dirty="0"/>
          </a:p>
          <a:p>
            <a:pPr lvl="1"/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vé</a:t>
            </a:r>
            <a:endParaRPr lang="en-US" dirty="0"/>
          </a:p>
          <a:p>
            <a:pPr lvl="1"/>
            <a:r>
              <a:rPr lang="en-US" dirty="0"/>
              <a:t>Xem </a:t>
            </a:r>
            <a:r>
              <a:rPr lang="en-US" dirty="0" err="1"/>
              <a:t>vé</a:t>
            </a:r>
            <a:endParaRPr lang="en-US" dirty="0"/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chuyến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</a:t>
            </a:r>
          </a:p>
          <a:p>
            <a:pPr lvl="1"/>
            <a:r>
              <a:rPr lang="en-US" dirty="0" err="1"/>
              <a:t>BookTicket</a:t>
            </a:r>
            <a:endParaRPr lang="en-US" dirty="0"/>
          </a:p>
          <a:p>
            <a:pPr lvl="1"/>
            <a:r>
              <a:rPr lang="en-US" dirty="0" err="1"/>
              <a:t>CancelTicket</a:t>
            </a:r>
            <a:endParaRPr lang="en-US" dirty="0"/>
          </a:p>
          <a:p>
            <a:r>
              <a:rPr lang="en-US" dirty="0"/>
              <a:t>Query:</a:t>
            </a:r>
          </a:p>
          <a:p>
            <a:pPr lvl="1" indent="-342900"/>
            <a:r>
              <a:rPr lang="en-US" dirty="0" err="1"/>
              <a:t>GetTickets</a:t>
            </a:r>
            <a:endParaRPr lang="en-US" dirty="0"/>
          </a:p>
          <a:p>
            <a:pPr lvl="1" indent="-342900"/>
            <a:r>
              <a:rPr lang="en-US" dirty="0" err="1"/>
              <a:t>SearchTrips</a:t>
            </a:r>
            <a:endParaRPr lang="en-US" dirty="0"/>
          </a:p>
          <a:p>
            <a:r>
              <a:rPr lang="en-US" dirty="0"/>
              <a:t>Event:</a:t>
            </a:r>
          </a:p>
          <a:p>
            <a:pPr lvl="1"/>
            <a:r>
              <a:rPr lang="en-US" dirty="0" err="1"/>
              <a:t>TicketBooked</a:t>
            </a:r>
            <a:endParaRPr lang="en-US" dirty="0"/>
          </a:p>
          <a:p>
            <a:pPr lvl="1"/>
            <a:r>
              <a:rPr lang="en-US" dirty="0" err="1"/>
              <a:t>TicketCanceled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Nếu</a:t>
            </a:r>
            <a:r>
              <a:rPr lang="en-US" dirty="0"/>
              <a:t> Read DB </a:t>
            </a:r>
            <a:r>
              <a:rPr lang="en-US" dirty="0" err="1"/>
              <a:t>bị</a:t>
            </a:r>
            <a:r>
              <a:rPr lang="en-US" dirty="0"/>
              <a:t> lag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?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transaction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r>
              <a:rPr lang="en-US" dirty="0"/>
              <a:t>Khi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CQRS?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B7F4-CA48-64F0-A635-79FBAA42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8B0A-1A28-2A00-1D8B-ADBCFE8A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44EF-B8D7-BD76-D537-633D986E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CQRS = tách Read / Write</a:t>
            </a:r>
            <a:endParaRPr lang="en-US" dirty="0"/>
          </a:p>
          <a:p>
            <a:r>
              <a:rPr lang="vi-VN" dirty="0"/>
              <a:t>Tăng performance +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2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BD25-8B72-C7D3-9042-50F840F5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F051-9B88-C34B-99C5-A08EC87B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1: Todo App </a:t>
            </a:r>
            <a:r>
              <a:rPr lang="en-US" dirty="0" err="1"/>
              <a:t>với</a:t>
            </a:r>
            <a:r>
              <a:rPr lang="en-US" dirty="0"/>
              <a:t> CQRS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3091-83FE-3CD4-0F1F-AE01C0B74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err="1"/>
              <a:t>Yêu</a:t>
            </a:r>
            <a:r>
              <a:rPr lang="en-US" b="1" u="sng" dirty="0"/>
              <a:t> </a:t>
            </a:r>
            <a:r>
              <a:rPr lang="en-US" b="1" u="sng" dirty="0" err="1"/>
              <a:t>cầu</a:t>
            </a:r>
            <a:r>
              <a:rPr lang="en-US" b="1" u="sng" dirty="0"/>
              <a:t>:</a:t>
            </a:r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API:</a:t>
            </a:r>
          </a:p>
          <a:p>
            <a:r>
              <a:rPr lang="en-US" b="1" dirty="0"/>
              <a:t>Command:</a:t>
            </a:r>
          </a:p>
          <a:p>
            <a:pPr lvl="1"/>
            <a:r>
              <a:rPr lang="en-US" dirty="0"/>
              <a:t>POST /</a:t>
            </a:r>
            <a:r>
              <a:rPr lang="en-US" dirty="0" err="1"/>
              <a:t>todos</a:t>
            </a:r>
            <a:r>
              <a:rPr lang="en-US" dirty="0"/>
              <a:t> →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PUT /</a:t>
            </a:r>
            <a:r>
              <a:rPr lang="en-US" dirty="0" err="1"/>
              <a:t>todos</a:t>
            </a:r>
            <a:r>
              <a:rPr lang="en-US" dirty="0"/>
              <a:t>/:id → update </a:t>
            </a:r>
          </a:p>
          <a:p>
            <a:pPr lvl="1"/>
            <a:r>
              <a:rPr lang="en-US" dirty="0"/>
              <a:t>DELETE /</a:t>
            </a:r>
            <a:r>
              <a:rPr lang="en-US" dirty="0" err="1"/>
              <a:t>todos</a:t>
            </a:r>
            <a:r>
              <a:rPr lang="en-US" dirty="0"/>
              <a:t>/:id </a:t>
            </a:r>
          </a:p>
          <a:p>
            <a:r>
              <a:rPr lang="en-US" b="1" dirty="0"/>
              <a:t>Query:</a:t>
            </a:r>
          </a:p>
          <a:p>
            <a:pPr lvl="1"/>
            <a:r>
              <a:rPr lang="en-US" dirty="0"/>
              <a:t>GET /</a:t>
            </a:r>
            <a:r>
              <a:rPr lang="en-US" dirty="0" err="1"/>
              <a:t>todos</a:t>
            </a:r>
            <a:r>
              <a:rPr lang="en-US" dirty="0"/>
              <a:t> →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GET /</a:t>
            </a:r>
            <a:r>
              <a:rPr lang="en-US" dirty="0" err="1"/>
              <a:t>todos</a:t>
            </a:r>
            <a:r>
              <a:rPr lang="en-US" dirty="0"/>
              <a:t>/:id → chi </a:t>
            </a:r>
            <a:r>
              <a:rPr lang="en-US" dirty="0" err="1"/>
              <a:t>tiết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20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D476-B66D-EECA-AFF2-27E142D6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BB5B-8510-0E4F-1FFE-58EFC96A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2: Order System (</a:t>
            </a:r>
            <a:r>
              <a:rPr lang="en-US" dirty="0" err="1"/>
              <a:t>có</a:t>
            </a:r>
            <a:r>
              <a:rPr lang="en-US" dirty="0"/>
              <a:t> Event)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3D2A-89BB-C17B-8BAA-5608C6E4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b="1" dirty="0"/>
              <a:t>Yêu cầu:</a:t>
            </a:r>
          </a:p>
          <a:p>
            <a:r>
              <a:rPr lang="vi-VN" b="1" dirty="0"/>
              <a:t>Command:</a:t>
            </a:r>
          </a:p>
          <a:p>
            <a:pPr lvl="1"/>
            <a:r>
              <a:rPr lang="vi-VN" dirty="0"/>
              <a:t>Tạo đơn hàng </a:t>
            </a:r>
          </a:p>
          <a:p>
            <a:pPr lvl="1"/>
            <a:r>
              <a:rPr lang="vi-VN" dirty="0"/>
              <a:t>Hủy đơn </a:t>
            </a:r>
          </a:p>
          <a:p>
            <a:r>
              <a:rPr lang="vi-VN" b="1" dirty="0"/>
              <a:t>Query:</a:t>
            </a:r>
          </a:p>
          <a:p>
            <a:pPr lvl="1"/>
            <a:r>
              <a:rPr lang="vi-VN" dirty="0"/>
              <a:t>Xem danh sách đơn hàng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5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B1E7-676F-600E-9FEC-49F41FA2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EAD-294F-C11C-2C08-774E19A7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Bài 3: Train Ticket System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62BB-B1C9-9411-80E0-A91FE83EE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</a:p>
          <a:p>
            <a:r>
              <a:rPr lang="en-US" b="1" dirty="0"/>
              <a:t>Command:</a:t>
            </a:r>
          </a:p>
          <a:p>
            <a:pPr lvl="1"/>
            <a:r>
              <a:rPr lang="en-US" dirty="0"/>
              <a:t>Book Ticket </a:t>
            </a:r>
          </a:p>
          <a:p>
            <a:pPr lvl="1"/>
            <a:r>
              <a:rPr lang="en-US" dirty="0"/>
              <a:t>Cancel Ticket </a:t>
            </a:r>
          </a:p>
          <a:p>
            <a:r>
              <a:rPr lang="en-US" b="1" dirty="0"/>
              <a:t>Query:</a:t>
            </a:r>
          </a:p>
          <a:p>
            <a:pPr lvl="1"/>
            <a:r>
              <a:rPr lang="en-US" dirty="0"/>
              <a:t>Get Tickets </a:t>
            </a:r>
          </a:p>
          <a:p>
            <a:pPr lvl="1"/>
            <a:r>
              <a:rPr lang="en-US" dirty="0"/>
              <a:t>Search Trips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5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67B3-CDC2-A383-1675-041C2EF18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1CD4-8D71-F0ED-959C-D84156CD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CQRS + SCALING + MICROSERVICE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E9562-16A0-3B16-BE7F-853AC4AF5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2 service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</a:p>
          <a:p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order-command-service </a:t>
            </a:r>
          </a:p>
          <a:p>
            <a:pPr lvl="1"/>
            <a:r>
              <a:rPr lang="en-US" dirty="0"/>
              <a:t>order-query-service </a:t>
            </a:r>
          </a:p>
          <a:p>
            <a:pPr marL="0" indent="0">
              <a:buNone/>
            </a:pPr>
            <a:r>
              <a:rPr lang="en-US" b="1" dirty="0"/>
              <a:t>Giao </a:t>
            </a:r>
            <a:r>
              <a:rPr lang="en-US" b="1" dirty="0" err="1"/>
              <a:t>tiếp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Kafka / RabbitMQ (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eventBus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4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 very much!</a:t>
            </a:r>
          </a:p>
        </p:txBody>
      </p:sp>
    </p:spTree>
    <p:extLst>
      <p:ext uri="{BB962C8B-B14F-4D97-AF65-F5344CB8AC3E}">
        <p14:creationId xmlns:p14="http://schemas.microsoft.com/office/powerpoint/2010/main" val="298888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DF91-7E80-4C1F-EE3D-25171330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CE1D-8A42-272F-505C-EDD308DD0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dirty="0"/>
              <a:t>Event Sourcing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70CF-6759-4ECC-B9C9-8BB42A82F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7603" y="4281047"/>
            <a:ext cx="5657658" cy="63174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Nguyễn Trọng Tiến</a:t>
            </a:r>
          </a:p>
        </p:txBody>
      </p:sp>
    </p:spTree>
    <p:extLst>
      <p:ext uri="{BB962C8B-B14F-4D97-AF65-F5344CB8AC3E}">
        <p14:creationId xmlns:p14="http://schemas.microsoft.com/office/powerpoint/2010/main" val="424158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Event Sourcing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Event Sourcing?</a:t>
            </a:r>
          </a:p>
          <a:p>
            <a:r>
              <a:rPr dirty="0"/>
              <a:t>Why use it?</a:t>
            </a:r>
          </a:p>
          <a:p>
            <a:r>
              <a:rPr dirty="0"/>
              <a:t>How it works?</a:t>
            </a:r>
          </a:p>
          <a:p>
            <a:endParaRPr dirty="0"/>
          </a:p>
          <a:p>
            <a:r>
              <a:rPr dirty="0"/>
              <a:t>Keywords: Event, Replay, State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of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stores final state</a:t>
            </a:r>
          </a:p>
          <a:p>
            <a:r>
              <a:t>No history</a:t>
            </a:r>
          </a:p>
          <a:p>
            <a:r>
              <a:t>Hard to debug</a:t>
            </a:r>
          </a:p>
          <a:p>
            <a:endParaRPr/>
          </a:p>
          <a:p>
            <a:r>
              <a:t>Example: UPDATE account SET balance = 1000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store state</a:t>
            </a:r>
          </a:p>
          <a:p>
            <a:r>
              <a:t>Store events</a:t>
            </a:r>
          </a:p>
          <a:p>
            <a:endParaRPr/>
          </a:p>
          <a:p>
            <a:r>
              <a:t>State = replay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→ Event → Store → Projection → UI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Handler</a:t>
            </a:r>
          </a:p>
          <a:p>
            <a:r>
              <a:t>Event Store</a:t>
            </a:r>
          </a:p>
          <a:p>
            <a:r>
              <a:t>Event Bus</a:t>
            </a:r>
          </a:p>
          <a:p>
            <a:r>
              <a:t>Projection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is rebuilt by replaying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Snapshot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snapshot to avoid replaying all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vs Event 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CRUD: State</a:t>
            </a:r>
          </a:p>
          <a:p>
            <a:r>
              <a:rPr dirty="0"/>
              <a:t>Event Sourcing: Events</a:t>
            </a:r>
          </a:p>
          <a:p>
            <a:r>
              <a:rPr dirty="0"/>
              <a:t>Better audit and debugging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Banking, E-commerce, Audit systems</a:t>
            </a:r>
          </a:p>
          <a:p>
            <a:r>
              <a:rPr dirty="0"/>
              <a:t>Not for simple CRUD apps</a:t>
            </a: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Large scale but slow?</a:t>
            </a:r>
          </a:p>
          <a:p>
            <a:r>
              <a:rPr dirty="0"/>
              <a:t>→ Use snapshot + CQRS + async projection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Sourcing -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practical exercises from basic to advanced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Bank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Events: AccountCreated, MoneyDeposited, MoneyWithdrawn</a:t>
            </a:r>
          </a:p>
          <a:p>
            <a:r>
              <a:t>Store events only (no direct state)</a:t>
            </a:r>
          </a:p>
          <a:p>
            <a:r>
              <a:t>Implement apply(event), replay(events)</a:t>
            </a:r>
          </a:p>
          <a:p>
            <a:r>
              <a:t>Output: balance computed from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Time Travel / 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undoLastEvent() or getStateAt(index)</a:t>
            </a:r>
          </a:p>
          <a:p>
            <a:r>
              <a:t>Allow viewing past states</a:t>
            </a:r>
          </a:p>
          <a:p>
            <a:r>
              <a:t>Hint: replay until index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Projection (Read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Write &amp; Read model</a:t>
            </a:r>
          </a:p>
          <a:p>
            <a:r>
              <a:t>Build accountSummary from events</a:t>
            </a:r>
          </a:p>
          <a:p>
            <a:r>
              <a:t>Fields: balance, totalDeposits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4: Snapshot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snapshot every N events</a:t>
            </a:r>
          </a:p>
          <a:p>
            <a:r>
              <a:t>Store snapshot + new events</a:t>
            </a:r>
          </a:p>
          <a:p>
            <a:r>
              <a:t>Replay from snapshot instead of beginning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5: Order System + CQRS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Events: OrderCreated, ItemAdded, ItemRemoved, OrderConfirmed</a:t>
            </a:r>
          </a:p>
          <a:p>
            <a:r>
              <a:t>Write side: command -&gt; event</a:t>
            </a:r>
          </a:p>
          <a:p>
            <a:r>
              <a:t>Read side: projection (totalPrice, status)</a:t>
            </a:r>
          </a:p>
          <a:p>
            <a:r>
              <a:t>Apply CQRS separation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if replay on every query?</a:t>
            </a:r>
          </a:p>
          <a:p>
            <a:r>
              <a:t>Wrong: replay all events each time</a:t>
            </a:r>
          </a:p>
          <a:p>
            <a:r>
              <a:t>Correct: use projection + CQRS + async</a:t>
            </a:r>
          </a:p>
        </p:txBody>
      </p:sp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0F78-3607-5E4A-1533-E256935B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E2D4-1CFE-89F6-6541-2A1A7226E5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00" dirty="0"/>
              <a:t>Saga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D7720-64E1-6018-B464-ABDBF6DE3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7603" y="4281047"/>
            <a:ext cx="5657658" cy="63174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Nguyễn Trọng Tiến</a:t>
            </a:r>
          </a:p>
        </p:txBody>
      </p:sp>
    </p:spTree>
    <p:extLst>
      <p:ext uri="{BB962C8B-B14F-4D97-AF65-F5344CB8AC3E}">
        <p14:creationId xmlns:p14="http://schemas.microsoft.com/office/powerpoint/2010/main" val="289219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Pattern - 3 Hour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transactions in Microservices</a:t>
            </a:r>
          </a:p>
          <a:p>
            <a:r>
              <a:t>Case Study: Shopee Order Flow</a:t>
            </a:r>
          </a:p>
        </p:txBody>
      </p:sp>
    </p:spTree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Distributed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services</a:t>
            </a:r>
          </a:p>
          <a:p>
            <a:r>
              <a:t>No global ACID</a:t>
            </a:r>
          </a:p>
          <a:p>
            <a:r>
              <a:t>Need consistency</a:t>
            </a:r>
          </a:p>
        </p:txBody>
      </p:sp>
    </p:spTree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2PC?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</a:t>
            </a:r>
          </a:p>
          <a:p>
            <a:r>
              <a:t>Locks resources</a:t>
            </a:r>
          </a:p>
          <a:p>
            <a:r>
              <a:t>Hard to scale</a:t>
            </a:r>
          </a:p>
        </p:txBody>
      </p:sp>
    </p:spTree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Pattern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into local transactions</a:t>
            </a:r>
          </a:p>
          <a:p>
            <a:r>
              <a:t>Each step emits event</a:t>
            </a:r>
          </a:p>
          <a:p>
            <a:r>
              <a:t>Failure → compensation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Local Transaction</a:t>
            </a:r>
          </a:p>
          <a:p>
            <a:r>
              <a:rPr dirty="0"/>
              <a:t>Event / Message</a:t>
            </a:r>
          </a:p>
          <a:p>
            <a:r>
              <a:t>Compensation Logic</a:t>
            </a:r>
          </a:p>
        </p:txBody>
      </p:sp>
    </p:spTree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Order</a:t>
            </a:r>
          </a:p>
          <a:p>
            <a:r>
              <a:t>Process Payment</a:t>
            </a:r>
          </a:p>
          <a:p>
            <a:r>
              <a:t>Update Inventory</a:t>
            </a:r>
          </a:p>
          <a:p>
            <a:r>
              <a:t>Ship Order</a:t>
            </a:r>
          </a:p>
        </p:txBody>
      </p:sp>
    </p:spTree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step fails → trigger rollback</a:t>
            </a:r>
          </a:p>
          <a:p>
            <a:r>
              <a:t>Compensation per service</a:t>
            </a:r>
          </a:p>
        </p:txBody>
      </p:sp>
    </p:spTree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Choreography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</a:t>
            </a:r>
          </a:p>
          <a:p>
            <a:r>
              <a:t>No central control</a:t>
            </a:r>
          </a:p>
          <a:p>
            <a:r>
              <a:t>Hard to debug</a:t>
            </a:r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orchestrator</a:t>
            </a:r>
          </a:p>
          <a:p>
            <a:r>
              <a:t>Controls flow</a:t>
            </a:r>
          </a:p>
          <a:p>
            <a:r>
              <a:t>Easier to manage</a:t>
            </a:r>
          </a:p>
        </p:txBody>
      </p:sp>
    </p:spTree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2PC vs Saga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2PC: Strong consistency</a:t>
            </a:r>
          </a:p>
          <a:p>
            <a:r>
              <a:t>Saga: Eventual consistency</a:t>
            </a:r>
          </a:p>
        </p:txBody>
      </p:sp>
    </p:spTree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Shopee Case Study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Service</a:t>
            </a:r>
          </a:p>
          <a:p>
            <a:r>
              <a:t>Payment Service</a:t>
            </a:r>
          </a:p>
          <a:p>
            <a:r>
              <a:t>Inventory Service</a:t>
            </a:r>
          </a:p>
          <a:p>
            <a:r>
              <a:t>Shipping Service</a:t>
            </a:r>
          </a:p>
        </p:txBody>
      </p:sp>
    </p:spTree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Shopee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places order</a:t>
            </a:r>
          </a:p>
          <a:p>
            <a:r>
              <a:t>Reserve stock</a:t>
            </a:r>
          </a:p>
          <a:p>
            <a:r>
              <a:t>Process payment</a:t>
            </a:r>
          </a:p>
          <a:p>
            <a:r>
              <a:t>Confirm order</a:t>
            </a:r>
          </a:p>
        </p:txBody>
      </p:sp>
    </p:spTree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Shopee Failure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fails</a:t>
            </a:r>
          </a:p>
          <a:p>
            <a:r>
              <a:t>Release stock</a:t>
            </a:r>
          </a:p>
          <a:p>
            <a:r>
              <a:t>Cancel order</a:t>
            </a:r>
          </a:p>
        </p:txBody>
      </p:sp>
    </p:spTree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Shopee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Bus (Kafka)</a:t>
            </a:r>
          </a:p>
          <a:p>
            <a:r>
              <a:t>Microservices</a:t>
            </a:r>
          </a:p>
          <a:p>
            <a:r>
              <a:t>Async communication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Idempotency</a:t>
            </a:r>
          </a:p>
          <a:p>
            <a:r>
              <a:t>Retry</a:t>
            </a:r>
          </a:p>
          <a:p>
            <a:r>
              <a:t>Duplicate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message broker</a:t>
            </a:r>
          </a:p>
          <a:p>
            <a:r>
              <a:t>Design compensation carefully</a:t>
            </a:r>
          </a:p>
          <a:p>
            <a:r>
              <a:t>Logging &amp; monitoring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Trap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but still fail?</a:t>
            </a:r>
          </a:p>
          <a:p>
            <a:r>
              <a:t>Missing compensation?</a:t>
            </a:r>
          </a:p>
          <a:p>
            <a:r>
              <a:t>Orchestrator bottleneck?</a:t>
            </a:r>
          </a:p>
        </p:txBody>
      </p:sp>
    </p:spTree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Saga = distributed transaction solution</a:t>
            </a:r>
          </a:p>
          <a:p>
            <a:r>
              <a:t>Key: events + compensation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Saga Pattern - Practice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exercises from basic to advanced</a:t>
            </a:r>
          </a:p>
          <a:p>
            <a:r>
              <a:t>Focus: Microservices &amp; Distributed Transactions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Basic Saga (Orchestration)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CreateOrder → Payment → Inventory</a:t>
            </a:r>
          </a:p>
          <a:p>
            <a:r>
              <a:t>Build Saga Orchestrator</a:t>
            </a:r>
          </a:p>
          <a:p>
            <a:r>
              <a:t>If Payment fails → Cancel Order</a:t>
            </a:r>
          </a:p>
        </p:txBody>
      </p:sp>
    </p:spTree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Full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step has rollback</a:t>
            </a:r>
          </a:p>
          <a:p>
            <a:r>
              <a:t>Payment → Refund</a:t>
            </a:r>
          </a:p>
          <a:p>
            <a:r>
              <a:t>Inventory → Restock</a:t>
            </a:r>
          </a:p>
          <a:p>
            <a:r>
              <a:t>Test failure scenarios</a:t>
            </a:r>
          </a:p>
        </p:txBody>
      </p:sp>
    </p:spTree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Choreography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approach</a:t>
            </a:r>
          </a:p>
          <a:p>
            <a:r>
              <a:t>OrderCreated → PaymentProcessed → InventoryUpdated</a:t>
            </a:r>
          </a:p>
          <a:p>
            <a:r>
              <a:t>No central orchestrator</a:t>
            </a:r>
          </a:p>
        </p:txBody>
      </p:sp>
    </p:spTree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4: Idempotency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duplicate events</a:t>
            </a:r>
          </a:p>
          <a:p>
            <a:r>
              <a:t>Use eventId</a:t>
            </a:r>
          </a:p>
          <a:p>
            <a:r>
              <a:t>Ignore already processed events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5: Retry &amp; DLQ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Retry failed operations (max 3)</a:t>
            </a:r>
          </a:p>
          <a:p>
            <a:r>
              <a:t>Push failed events to Dead Letter Queue</a:t>
            </a:r>
          </a:p>
          <a:p>
            <a:r>
              <a:t>Simulate temporary failures</a:t>
            </a:r>
          </a:p>
        </p:txBody>
      </p:sp>
    </p:spTree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6: Shopee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Services: Order, Payment, Inventory, Shipping</a:t>
            </a:r>
          </a:p>
          <a:p>
            <a:r>
              <a:t>Implement full Saga flow</a:t>
            </a:r>
          </a:p>
          <a:p>
            <a:r>
              <a:t>Handle failures &amp; compensation</a:t>
            </a:r>
          </a:p>
          <a:p>
            <a:r>
              <a:t>Add logging &amp; idempotency</a:t>
            </a:r>
          </a:p>
        </p:txBody>
      </p:sp>
    </p:spTree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Trap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payment issue</a:t>
            </a:r>
          </a:p>
          <a:p>
            <a:r>
              <a:t>Order processed twice</a:t>
            </a:r>
          </a:p>
          <a:p>
            <a:r>
              <a:t>Find root cause &amp; fix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Kendall Master 2007">
  <a:themeElements>
    <a:clrScheme name="">
      <a:dk1>
        <a:srgbClr val="000000"/>
      </a:dk1>
      <a:lt1>
        <a:srgbClr val="FFFFFF"/>
      </a:lt1>
      <a:dk2>
        <a:srgbClr val="0064E2"/>
      </a:dk2>
      <a:lt2>
        <a:srgbClr val="B5D2F5"/>
      </a:lt2>
      <a:accent1>
        <a:srgbClr val="FFB91D"/>
      </a:accent1>
      <a:accent2>
        <a:srgbClr val="F97817"/>
      </a:accent2>
      <a:accent3>
        <a:srgbClr val="FFFFFF"/>
      </a:accent3>
      <a:accent4>
        <a:srgbClr val="000000"/>
      </a:accent4>
      <a:accent5>
        <a:srgbClr val="FFD9AB"/>
      </a:accent5>
      <a:accent6>
        <a:srgbClr val="E26C14"/>
      </a:accent6>
      <a:hlink>
        <a:srgbClr val="FFE400"/>
      </a:hlink>
      <a:folHlink>
        <a:srgbClr val="A3EC62"/>
      </a:folHlink>
    </a:clrScheme>
    <a:fontScheme name="Kendall Master 2007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vi-V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vi-V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Kendall Master 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ndall Master 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ndall Master 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ndall Master 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ndall Master 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ndall Master 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ndall Master 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Kendall Master 2007">
  <a:themeElements>
    <a:clrScheme name="">
      <a:dk1>
        <a:srgbClr val="000000"/>
      </a:dk1>
      <a:lt1>
        <a:srgbClr val="FFFFFF"/>
      </a:lt1>
      <a:dk2>
        <a:srgbClr val="0064E2"/>
      </a:dk2>
      <a:lt2>
        <a:srgbClr val="B5D2F5"/>
      </a:lt2>
      <a:accent1>
        <a:srgbClr val="FFB91D"/>
      </a:accent1>
      <a:accent2>
        <a:srgbClr val="F97817"/>
      </a:accent2>
      <a:accent3>
        <a:srgbClr val="FFFFFF"/>
      </a:accent3>
      <a:accent4>
        <a:srgbClr val="000000"/>
      </a:accent4>
      <a:accent5>
        <a:srgbClr val="FFD9AB"/>
      </a:accent5>
      <a:accent6>
        <a:srgbClr val="E26C14"/>
      </a:accent6>
      <a:hlink>
        <a:srgbClr val="FFE400"/>
      </a:hlink>
      <a:folHlink>
        <a:srgbClr val="A3EC62"/>
      </a:folHlink>
    </a:clrScheme>
    <a:fontScheme name="2_Kendall Master 2007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vi-V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vi-V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2_Kendall Master 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Kendall Master 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Kendall Master 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Kendall Master 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Kendall Master 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Kendall Master 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Kendall Master 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01_Chapter_Introducing Data Modeling</Template>
  <TotalTime>206</TotalTime>
  <Words>3114</Words>
  <Application>Microsoft Office PowerPoint</Application>
  <PresentationFormat>Widescreen</PresentationFormat>
  <Paragraphs>691</Paragraphs>
  <Slides>62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Aptos</vt:lpstr>
      <vt:lpstr>Arial</vt:lpstr>
      <vt:lpstr>Tahoma</vt:lpstr>
      <vt:lpstr>Wingdings</vt:lpstr>
      <vt:lpstr>Kendall Master 2007</vt:lpstr>
      <vt:lpstr>2_Kendall Master 2007</vt:lpstr>
      <vt:lpstr>CQRS Pattern</vt:lpstr>
      <vt:lpstr>CQRS là gì?</vt:lpstr>
      <vt:lpstr>Example: Hệ thống bán vé tàu</vt:lpstr>
      <vt:lpstr>Kiến trúc tổng thể</vt:lpstr>
      <vt:lpstr>So sánh CRUD vs CQRS</vt:lpstr>
      <vt:lpstr>Event-driven + CQRS</vt:lpstr>
      <vt:lpstr>Scaling trong CQRS</vt:lpstr>
      <vt:lpstr>CQRS + Microservices</vt:lpstr>
      <vt:lpstr>PRACTICE &amp; DESIGN</vt:lpstr>
      <vt:lpstr>Recommendation</vt:lpstr>
      <vt:lpstr>Question</vt:lpstr>
      <vt:lpstr>Summary</vt:lpstr>
      <vt:lpstr>Bài 1: Todo App với CQRS </vt:lpstr>
      <vt:lpstr>Bài 2: Order System (có Event) </vt:lpstr>
      <vt:lpstr>Bài 3: Train Ticket System</vt:lpstr>
      <vt:lpstr>Bài 4: CQRS + SCALING + MICROSERVICE</vt:lpstr>
      <vt:lpstr>Q&amp;A</vt:lpstr>
      <vt:lpstr>Event Sourcing</vt:lpstr>
      <vt:lpstr>Event Sourcing Architecture</vt:lpstr>
      <vt:lpstr>Problem of CRUD</vt:lpstr>
      <vt:lpstr>Core Idea</vt:lpstr>
      <vt:lpstr>How It Works</vt:lpstr>
      <vt:lpstr>Architecture Components</vt:lpstr>
      <vt:lpstr>Replay State</vt:lpstr>
      <vt:lpstr>Snapshot Optimization</vt:lpstr>
      <vt:lpstr>CRUD vs Event Sourcing</vt:lpstr>
      <vt:lpstr>When to Use</vt:lpstr>
      <vt:lpstr>Question</vt:lpstr>
      <vt:lpstr>Event Sourcing - Exercises</vt:lpstr>
      <vt:lpstr>Exercise 1: Bank Account</vt:lpstr>
      <vt:lpstr>Exercise 2: Time Travel / Undo</vt:lpstr>
      <vt:lpstr>Exercise 3: Projection (Read Model)</vt:lpstr>
      <vt:lpstr>Exercise 4: Snapshot Optimization</vt:lpstr>
      <vt:lpstr>Exercise 5: Order System + CQRS</vt:lpstr>
      <vt:lpstr>Question</vt:lpstr>
      <vt:lpstr>Saga Pattern</vt:lpstr>
      <vt:lpstr>Saga Pattern - 3 Hour Lecture</vt:lpstr>
      <vt:lpstr>Problem: Distributed Transaction</vt:lpstr>
      <vt:lpstr>Why Not 2PC?</vt:lpstr>
      <vt:lpstr>Saga Pattern Concept</vt:lpstr>
      <vt:lpstr>Core Components</vt:lpstr>
      <vt:lpstr>Saga Flow Example</vt:lpstr>
      <vt:lpstr>Failure Handling</vt:lpstr>
      <vt:lpstr>Choreography</vt:lpstr>
      <vt:lpstr>Orchestration</vt:lpstr>
      <vt:lpstr>Compare 2PC vs Saga</vt:lpstr>
      <vt:lpstr>Shopee Case Study - Overview</vt:lpstr>
      <vt:lpstr>Shopee Flow</vt:lpstr>
      <vt:lpstr>Shopee Failure Case</vt:lpstr>
      <vt:lpstr>Shopee Architecture</vt:lpstr>
      <vt:lpstr>Design Challenges</vt:lpstr>
      <vt:lpstr>Best Practices</vt:lpstr>
      <vt:lpstr>Trap Questions</vt:lpstr>
      <vt:lpstr>Summary</vt:lpstr>
      <vt:lpstr>Saga Pattern - Practice Exercises</vt:lpstr>
      <vt:lpstr>Exercise 1: Basic Saga (Orchestration)</vt:lpstr>
      <vt:lpstr>Exercise 2: Full Compensation</vt:lpstr>
      <vt:lpstr>Exercise 3: Choreography</vt:lpstr>
      <vt:lpstr>Exercise 4: Idempotency</vt:lpstr>
      <vt:lpstr>Exercise 5: Retry &amp; DLQ</vt:lpstr>
      <vt:lpstr>Exercise 6: Shopee Case Study</vt:lpstr>
      <vt:lpstr>Trap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Thị Hạnh</dc:creator>
  <cp:lastModifiedBy>Nguyễn Trọng Tiến</cp:lastModifiedBy>
  <cp:revision>93</cp:revision>
  <dcterms:created xsi:type="dcterms:W3CDTF">2025-10-30T05:39:08Z</dcterms:created>
  <dcterms:modified xsi:type="dcterms:W3CDTF">2026-04-13T02:44:33Z</dcterms:modified>
</cp:coreProperties>
</file>